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5" r:id="rId4"/>
    <p:sldId id="276" r:id="rId5"/>
    <p:sldId id="277" r:id="rId6"/>
    <p:sldId id="278" r:id="rId7"/>
    <p:sldId id="281" r:id="rId8"/>
    <p:sldId id="283" r:id="rId9"/>
    <p:sldId id="284" r:id="rId10"/>
    <p:sldId id="285" r:id="rId11"/>
    <p:sldId id="286" r:id="rId12"/>
    <p:sldId id="287" r:id="rId13"/>
    <p:sldId id="288" r:id="rId14"/>
    <p:sldId id="274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6FCA0-AB3E-44CC-A4B1-FC565F7E9F18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CB1AD-54AB-45AF-9496-07E3DD36B4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31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C97578-958B-4C78-054D-271FC2294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17FD74E-CC5A-990E-80B2-F50C9B369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398F313-3FF2-11C2-6F43-B45795C2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1D8863-0D2A-618B-BAD4-FF52E88B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1F1D7F2-2A61-DE71-7EC0-83FE6444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957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98FFE0-E55F-836C-52E4-D03B1C36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AB8354F-7ECD-823F-04F7-1ACA52D1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1F6C5D0-DA3B-CF80-F9F5-56A23477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01EF4F-53EA-182A-60C5-5856AF23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78D3304-425A-A6FF-848E-0FE2FD5F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355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3C4DE0-FD47-75B0-8757-B214FEF9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E8962F4-F7E4-8F36-B497-C236A0628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4975E0-E58E-E267-D553-6F4021DF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4E259C7-C46D-0932-A640-7FB33434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ADDBB3A-B03C-27BD-67BA-17918054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23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763C1A-59AE-2F91-7BE6-08A2C8ED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983A9E-8E51-3913-F890-EABC72F2D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46BFCC1-3D70-6982-4E7D-8B9F05E41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AB9D33A-6E5E-AE7A-C5C2-C8607345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FC80EC4-59A1-5415-0598-DA902CEC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31D25E0-E570-5E2F-11E4-5FCA772E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54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121651-2523-5B8C-8C18-D1E7D691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27DC79B-33B1-D1D7-9D18-821CD9CE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AB170E6-2144-B254-89CF-77413C291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4FF3C79-737E-5E40-5212-E24EC5B94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49D430C-CFD3-F7FF-EC3C-F0F3F6231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83B3F04-F239-545E-1807-E925A0AD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EB73CD9-11E3-E521-4BF6-FDCA26FDC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3E4E1CB-AA6D-D021-D714-53AAB362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10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86FEF3-3AD0-5792-1C1B-6C4697D2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B31F6E6-9FF2-9225-0921-9D5EFECF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5068493-573D-419D-FCAF-A08CF58A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FCAF6CD-8319-25FE-5706-09F02EEC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001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34523B4-7507-50EF-4AF9-9EE274B3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633622B-F64F-8527-5A45-7CD6D583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B0A5CA4-0AEF-BB01-BEB8-1E929819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907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0A2E49-BE35-271D-A1BE-95CCEBD3F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2306C3-1F1E-49A7-BF18-B18730A6D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A591922-DF49-0EC0-EA76-3FDB5D9D7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67B072E-81AB-A3F3-A2B9-BDFA0FB5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1E765FD-B00F-505F-2714-631FB3C3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92ADC20-4EE6-8D95-DBDF-6D21CE6A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481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4838FC-912D-EC76-7F68-5F206DB8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88CDDED-A7B7-A5B9-2FB8-C70208786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E1F4A10-90E4-137D-B8B6-C073C1D65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039EDFB-4E5F-0416-A6C2-A58FFEFD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11E8D93-33E7-8F4A-9F23-BBA94118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916C3EF-382D-8284-333F-8CA5F50D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776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4C51B2-2E45-D8A7-1999-95C475CC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063B324-17F5-F176-B156-ED52954B9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A31A9C-04E7-D256-4681-16D197F6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DB6076-A9E8-F13D-4C1F-4A7A02E57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E6CDD3B-A7CE-97CA-EA57-4CC01458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44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ACF8FC8-4F43-8B9D-F488-85F969A40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B1E7883-43E9-8F1F-CD1C-8171DC4AE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D8C60DB-E0F3-5363-FAE6-492AC805E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945DB7-1C2A-80E9-BAC6-6C22438E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DF1F784-C1A5-1A67-2E47-4E785B1A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803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208CD4A-8BCC-4219-ECE5-BB013AE1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59841A4-DA90-EBE1-D7A3-90DDF8245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F41633A-D6C1-0BBB-BA23-F496EF2C8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6D74-92BE-406F-B301-CA350EA79AFB}" type="datetimeFigureOut">
              <a:rPr lang="tr-TR" smtClean="0"/>
              <a:t>20.02.2025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C8FF297-DBFC-88BA-37EC-A2D7568A8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1C85364-7A9E-2AF6-BEAD-4D89ED5EF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F303F-2024-4753-A2D2-2D1B77CCDF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559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code/christianlillelund/classify-mnist-audio-using-spectrograms-keras-cnn/notebook.%20Accessed%2019%20Feb.%2020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D83CE6-CB86-EA07-DF7D-80EA41066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/>
              <a:t>Remote </a:t>
            </a:r>
            <a:r>
              <a:rPr lang="en-US" b="1" dirty="0"/>
              <a:t>Material </a:t>
            </a:r>
            <a:r>
              <a:rPr lang="tr-TR" b="1" dirty="0" err="1"/>
              <a:t>Classification</a:t>
            </a:r>
            <a:r>
              <a:rPr lang="en-US" b="1" dirty="0"/>
              <a:t> Using </a:t>
            </a:r>
            <a:r>
              <a:rPr lang="tr-TR" b="1" dirty="0"/>
              <a:t>a </a:t>
            </a:r>
            <a:r>
              <a:rPr lang="en-US" b="1" dirty="0"/>
              <a:t>Laser Module and LSTM Deep Learning Algorithm</a:t>
            </a:r>
            <a:r>
              <a:rPr lang="tr-TR" b="1" dirty="0"/>
              <a:t>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7760A2E-FDA6-D075-FD3B-950C41755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Yusuf Soyçeken - 20290497</a:t>
            </a:r>
          </a:p>
        </p:txBody>
      </p:sp>
    </p:spTree>
    <p:extLst>
      <p:ext uri="{BB962C8B-B14F-4D97-AF65-F5344CB8AC3E}">
        <p14:creationId xmlns:p14="http://schemas.microsoft.com/office/powerpoint/2010/main" val="184173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D8869F-C91A-2AA3-13F4-BCFBA71E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Table</a:t>
            </a:r>
            <a:r>
              <a:rPr lang="tr-TR" b="1" dirty="0"/>
              <a:t> of </a:t>
            </a:r>
            <a:r>
              <a:rPr lang="tr-TR" b="1" dirty="0" err="1"/>
              <a:t>Contents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230DC9-1F16-6053-FB4C-925D68ACC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tr-TR" dirty="0" err="1"/>
              <a:t>Review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endParaRPr lang="tr-TR" dirty="0"/>
          </a:p>
          <a:p>
            <a:pPr marL="971550" lvl="1" indent="-514350">
              <a:buFont typeface="+mj-lt"/>
              <a:buAutoNum type="romanLcPeriod"/>
            </a:pPr>
            <a:r>
              <a:rPr lang="tr-TR" dirty="0"/>
              <a:t>Schedule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 err="1"/>
              <a:t>References</a:t>
            </a:r>
            <a:endParaRPr lang="tr-TR" dirty="0"/>
          </a:p>
          <a:p>
            <a:pPr marL="514350" indent="-514350">
              <a:buFont typeface="+mj-lt"/>
              <a:buAutoNum type="arabicPeriod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1862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9FD366-55CB-4D40-1370-7A65BDE4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Review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</a:t>
            </a:r>
            <a:endParaRPr lang="en-GB" dirty="0"/>
          </a:p>
        </p:txBody>
      </p:sp>
      <p:pic>
        <p:nvPicPr>
          <p:cNvPr id="5" name="İçerik Yer Tutucusu 4" descr="metin, dizüstü, elektronik cihaz, küçük alet içeren bir resim&#10;&#10;Açıklama otomatik olarak oluşturuldu">
            <a:extLst>
              <a:ext uri="{FF2B5EF4-FFF2-40B4-BE49-F238E27FC236}">
                <a16:creationId xmlns:a16="http://schemas.microsoft.com/office/drawing/2014/main" id="{8153251F-5B7B-9783-E314-80148AD44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64" y="1494885"/>
            <a:ext cx="5784888" cy="2603200"/>
          </a:xfr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126F22EC-750E-65D3-19C7-CA713E152245}"/>
              </a:ext>
            </a:extLst>
          </p:cNvPr>
          <p:cNvSpPr txBox="1"/>
          <p:nvPr/>
        </p:nvSpPr>
        <p:spPr>
          <a:xfrm>
            <a:off x="457200" y="1494885"/>
            <a:ext cx="52042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dirty="0" err="1"/>
              <a:t>In</a:t>
            </a:r>
            <a:r>
              <a:rPr lang="tr-TR" sz="2800" dirty="0"/>
              <a:t>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previous</a:t>
            </a:r>
            <a:r>
              <a:rPr lang="tr-TR" sz="2800" dirty="0"/>
              <a:t> </a:t>
            </a:r>
            <a:r>
              <a:rPr lang="tr-TR" sz="2800" dirty="0" err="1"/>
              <a:t>semester</a:t>
            </a:r>
            <a:r>
              <a:rPr lang="tr-TR" sz="2800" dirty="0"/>
              <a:t>, data </a:t>
            </a:r>
            <a:r>
              <a:rPr lang="tr-TR" sz="2800" dirty="0" err="1"/>
              <a:t>acqusion</a:t>
            </a:r>
            <a:r>
              <a:rPr lang="tr-TR" sz="2800" dirty="0"/>
              <a:t> </a:t>
            </a:r>
            <a:r>
              <a:rPr lang="tr-TR" sz="2800" dirty="0" err="1"/>
              <a:t>system</a:t>
            </a:r>
            <a:r>
              <a:rPr lang="tr-TR" sz="2800" dirty="0"/>
              <a:t> </a:t>
            </a:r>
            <a:r>
              <a:rPr lang="tr-TR" sz="2800" dirty="0" err="1"/>
              <a:t>was</a:t>
            </a:r>
            <a:r>
              <a:rPr lang="tr-TR" sz="2800" dirty="0"/>
              <a:t> </a:t>
            </a:r>
            <a:r>
              <a:rPr lang="tr-TR" sz="2800" dirty="0" err="1"/>
              <a:t>designed</a:t>
            </a:r>
            <a:r>
              <a:rPr lang="tr-TR" sz="2800" dirty="0"/>
              <a:t> </a:t>
            </a:r>
            <a:r>
              <a:rPr lang="tr-TR" sz="2800" dirty="0" err="1"/>
              <a:t>built</a:t>
            </a:r>
            <a:r>
              <a:rPr lang="tr-TR" sz="2800" dirty="0"/>
              <a:t> </a:t>
            </a:r>
            <a:r>
              <a:rPr lang="tr-TR" sz="2800" dirty="0" err="1"/>
              <a:t>and</a:t>
            </a:r>
            <a:r>
              <a:rPr lang="tr-TR" sz="2800" dirty="0"/>
              <a:t> </a:t>
            </a:r>
            <a:r>
              <a:rPr lang="tr-TR" sz="2800" dirty="0" err="1"/>
              <a:t>tested</a:t>
            </a:r>
            <a:r>
              <a:rPr lang="tr-TR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dirty="0"/>
              <a:t>6</a:t>
            </a:r>
            <a:r>
              <a:rPr lang="en-US" sz="2800" dirty="0"/>
              <a:t> PLA samples, consisting of </a:t>
            </a:r>
            <a:r>
              <a:rPr lang="tr-TR" sz="2800" dirty="0"/>
              <a:t>3</a:t>
            </a:r>
            <a:r>
              <a:rPr lang="en-US" sz="2800" dirty="0"/>
              <a:t> different colors and </a:t>
            </a:r>
            <a:r>
              <a:rPr lang="tr-TR" sz="2800" dirty="0"/>
              <a:t>2</a:t>
            </a:r>
            <a:r>
              <a:rPr lang="en-US" sz="2800" dirty="0"/>
              <a:t> different shapes, along with </a:t>
            </a:r>
            <a:r>
              <a:rPr lang="tr-TR" sz="2800" dirty="0"/>
              <a:t>2</a:t>
            </a:r>
            <a:r>
              <a:rPr lang="en-US" sz="2800" dirty="0"/>
              <a:t> paper samples of different colors, were analyzed at 36 different points on </a:t>
            </a:r>
            <a:r>
              <a:rPr lang="en-US" sz="2800" dirty="0" err="1"/>
              <a:t>eac</a:t>
            </a:r>
            <a:r>
              <a:rPr lang="tr-TR" sz="2800" dirty="0"/>
              <a:t>h</a:t>
            </a:r>
            <a:r>
              <a:rPr lang="en-US" sz="2800" dirty="0"/>
              <a:t> sample.</a:t>
            </a:r>
            <a:endParaRPr lang="tr-TR" sz="28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ACF6B5C7-EAA7-DE71-3A56-A406140ADC35}"/>
              </a:ext>
            </a:extLst>
          </p:cNvPr>
          <p:cNvSpPr txBox="1"/>
          <p:nvPr/>
        </p:nvSpPr>
        <p:spPr>
          <a:xfrm>
            <a:off x="7791855" y="4221805"/>
            <a:ext cx="2117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i="1" dirty="0" err="1"/>
              <a:t>Sampling</a:t>
            </a:r>
            <a:r>
              <a:rPr lang="tr-TR" sz="2400" i="1" dirty="0"/>
              <a:t> Setup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24026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136DAF8-F115-91B3-C63A-99936284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85168"/>
            <a:ext cx="5167185" cy="1680519"/>
          </a:xfrm>
        </p:spPr>
        <p:txBody>
          <a:bodyPr>
            <a:normAutofit/>
          </a:bodyPr>
          <a:lstStyle/>
          <a:p>
            <a:r>
              <a:rPr lang="tr-TR" sz="4000" dirty="0" err="1"/>
              <a:t>Review</a:t>
            </a:r>
            <a:r>
              <a:rPr lang="tr-TR" sz="4000" dirty="0"/>
              <a:t> of </a:t>
            </a:r>
            <a:r>
              <a:rPr lang="tr-TR" sz="4000" dirty="0" err="1"/>
              <a:t>the</a:t>
            </a:r>
            <a:r>
              <a:rPr lang="tr-TR" sz="4000" dirty="0"/>
              <a:t> Project</a:t>
            </a:r>
            <a:endParaRPr lang="en-GB" sz="40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F85229-6E7B-2D7C-132B-52373057B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793" y="667958"/>
            <a:ext cx="6970207" cy="2337889"/>
          </a:xfrm>
        </p:spPr>
        <p:txBody>
          <a:bodyPr anchor="ctr">
            <a:normAutofit fontScale="85000" lnSpcReduction="20000"/>
          </a:bodyPr>
          <a:lstStyle/>
          <a:p>
            <a:r>
              <a:rPr lang="tr-TR" sz="3300" dirty="0" err="1"/>
              <a:t>The</a:t>
            </a:r>
            <a:r>
              <a:rPr lang="tr-TR" sz="3300" dirty="0"/>
              <a:t> </a:t>
            </a:r>
            <a:r>
              <a:rPr lang="tr-TR" sz="3300" dirty="0" err="1"/>
              <a:t>classification</a:t>
            </a:r>
            <a:r>
              <a:rPr lang="tr-TR" sz="3300" dirty="0"/>
              <a:t> </a:t>
            </a:r>
            <a:r>
              <a:rPr lang="tr-TR" sz="3300" dirty="0" err="1"/>
              <a:t>method</a:t>
            </a:r>
            <a:r>
              <a:rPr lang="tr-TR" sz="3300" dirty="0"/>
              <a:t> </a:t>
            </a:r>
            <a:r>
              <a:rPr lang="tr-TR" sz="3300" dirty="0" err="1"/>
              <a:t>was</a:t>
            </a:r>
            <a:r>
              <a:rPr lang="tr-TR" sz="3300" dirty="0"/>
              <a:t> not </a:t>
            </a:r>
            <a:r>
              <a:rPr lang="tr-TR" sz="3300" dirty="0" err="1"/>
              <a:t>sufficient</a:t>
            </a:r>
            <a:r>
              <a:rPr lang="tr-TR" sz="3300" dirty="0"/>
              <a:t> </a:t>
            </a:r>
            <a:r>
              <a:rPr lang="tr-TR" sz="3300" dirty="0" err="1"/>
              <a:t>to</a:t>
            </a:r>
            <a:r>
              <a:rPr lang="tr-TR" sz="3300" dirty="0"/>
              <a:t> </a:t>
            </a:r>
            <a:r>
              <a:rPr lang="tr-TR" sz="3300" dirty="0" err="1"/>
              <a:t>classify</a:t>
            </a:r>
            <a:r>
              <a:rPr lang="tr-TR" sz="3300" dirty="0"/>
              <a:t> </a:t>
            </a:r>
            <a:r>
              <a:rPr lang="tr-TR" sz="3300" dirty="0" err="1"/>
              <a:t>materials</a:t>
            </a:r>
            <a:r>
              <a:rPr lang="tr-TR" sz="3300" dirty="0"/>
              <a:t> </a:t>
            </a:r>
            <a:r>
              <a:rPr lang="tr-TR" sz="3300" dirty="0" err="1"/>
              <a:t>all</a:t>
            </a:r>
            <a:r>
              <a:rPr lang="tr-TR" sz="3300" dirty="0"/>
              <a:t> </a:t>
            </a:r>
            <a:r>
              <a:rPr lang="tr-TR" sz="3300" dirty="0" err="1"/>
              <a:t>the</a:t>
            </a:r>
            <a:r>
              <a:rPr lang="tr-TR" sz="3300" dirty="0"/>
              <a:t> </a:t>
            </a:r>
            <a:r>
              <a:rPr lang="tr-TR" sz="3300" dirty="0" err="1"/>
              <a:t>materials</a:t>
            </a:r>
            <a:r>
              <a:rPr lang="tr-TR" sz="3300" dirty="0"/>
              <a:t>. </a:t>
            </a:r>
          </a:p>
          <a:p>
            <a:r>
              <a:rPr lang="tr-TR" sz="3300" dirty="0" err="1"/>
              <a:t>However</a:t>
            </a:r>
            <a:r>
              <a:rPr lang="tr-TR" sz="3300" dirty="0"/>
              <a:t>, it is </a:t>
            </a:r>
            <a:r>
              <a:rPr lang="tr-TR" sz="3300" dirty="0" err="1"/>
              <a:t>very</a:t>
            </a:r>
            <a:r>
              <a:rPr lang="tr-TR" sz="3300" dirty="0"/>
              <a:t> </a:t>
            </a:r>
            <a:r>
              <a:rPr lang="tr-TR" sz="3300" dirty="0" err="1"/>
              <a:t>promissing</a:t>
            </a:r>
            <a:r>
              <a:rPr lang="tr-TR" sz="3300" dirty="0"/>
              <a:t> </a:t>
            </a:r>
            <a:r>
              <a:rPr lang="tr-TR" sz="3300" dirty="0" err="1"/>
              <a:t>to</a:t>
            </a:r>
            <a:r>
              <a:rPr lang="tr-TR" sz="3300" dirty="0"/>
              <a:t> </a:t>
            </a:r>
            <a:r>
              <a:rPr lang="tr-TR" sz="3300" dirty="0" err="1"/>
              <a:t>classify</a:t>
            </a:r>
            <a:r>
              <a:rPr lang="tr-TR" sz="3300" dirty="0"/>
              <a:t> two </a:t>
            </a:r>
            <a:r>
              <a:rPr lang="tr-TR" sz="3300" dirty="0" err="1"/>
              <a:t>different</a:t>
            </a:r>
            <a:r>
              <a:rPr lang="tr-TR" sz="3300" dirty="0"/>
              <a:t> </a:t>
            </a:r>
            <a:r>
              <a:rPr lang="tr-TR" sz="3300" dirty="0" err="1"/>
              <a:t>material</a:t>
            </a:r>
            <a:r>
              <a:rPr lang="tr-TR" sz="3300" dirty="0"/>
              <a:t>.  </a:t>
            </a:r>
          </a:p>
          <a:p>
            <a:r>
              <a:rPr lang="tr-TR" sz="3300" dirty="0" err="1"/>
              <a:t>Classification</a:t>
            </a:r>
            <a:r>
              <a:rPr lang="tr-TR" sz="3300" dirty="0"/>
              <a:t> </a:t>
            </a:r>
            <a:r>
              <a:rPr lang="tr-TR" sz="3300" dirty="0" err="1"/>
              <a:t>by</a:t>
            </a:r>
            <a:r>
              <a:rPr lang="tr-TR" sz="3300" dirty="0"/>
              <a:t> </a:t>
            </a:r>
            <a:r>
              <a:rPr lang="tr-TR" sz="3300" dirty="0" err="1"/>
              <a:t>using</a:t>
            </a:r>
            <a:r>
              <a:rPr lang="tr-TR" sz="3300" dirty="0"/>
              <a:t> LSTM </a:t>
            </a:r>
            <a:r>
              <a:rPr lang="tr-TR" sz="3300" dirty="0" err="1"/>
              <a:t>applied</a:t>
            </a:r>
            <a:r>
              <a:rPr lang="tr-TR" sz="3300" dirty="0"/>
              <a:t> </a:t>
            </a:r>
            <a:r>
              <a:rPr lang="tr-TR" sz="3300" dirty="0" err="1"/>
              <a:t>after</a:t>
            </a:r>
            <a:r>
              <a:rPr lang="tr-TR" sz="3300" dirty="0"/>
              <a:t> </a:t>
            </a:r>
            <a:r>
              <a:rPr lang="tr-TR" sz="3300" dirty="0" err="1"/>
              <a:t>application</a:t>
            </a:r>
            <a:r>
              <a:rPr lang="tr-TR" sz="3300" dirty="0"/>
              <a:t> of </a:t>
            </a:r>
            <a:r>
              <a:rPr lang="tr-TR" sz="3300" dirty="0" err="1"/>
              <a:t>Welch’s</a:t>
            </a:r>
            <a:r>
              <a:rPr lang="tr-TR" sz="3300" dirty="0"/>
              <a:t> </a:t>
            </a:r>
            <a:r>
              <a:rPr lang="tr-TR" sz="3300" dirty="0" err="1"/>
              <a:t>Method</a:t>
            </a:r>
            <a:r>
              <a:rPr lang="tr-TR" sz="3300" dirty="0"/>
              <a:t>.    </a:t>
            </a:r>
          </a:p>
          <a:p>
            <a:endParaRPr lang="en-GB" sz="3300" dirty="0"/>
          </a:p>
          <a:p>
            <a:endParaRPr lang="en-GB" sz="20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FBF11DF-EAD4-C8A0-6853-34FE412F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13" y="2474920"/>
            <a:ext cx="4381118" cy="3285839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BA275A9D-D592-D64A-9461-DB09E0BA4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70" y="2474920"/>
            <a:ext cx="4626075" cy="3371854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B4987564-1411-E39F-69DC-0D693F560A38}"/>
              </a:ext>
            </a:extLst>
          </p:cNvPr>
          <p:cNvSpPr txBox="1"/>
          <p:nvPr/>
        </p:nvSpPr>
        <p:spPr>
          <a:xfrm>
            <a:off x="6608668" y="6026581"/>
            <a:ext cx="48896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i="1" dirty="0" err="1"/>
              <a:t>Confusion</a:t>
            </a:r>
            <a:r>
              <a:rPr lang="tr-TR" sz="2400" i="1" dirty="0"/>
              <a:t> </a:t>
            </a:r>
            <a:r>
              <a:rPr lang="tr-TR" sz="2400" i="1" dirty="0" err="1"/>
              <a:t>matrix</a:t>
            </a:r>
            <a:r>
              <a:rPr lang="tr-TR" sz="2400" i="1" dirty="0"/>
              <a:t> of </a:t>
            </a:r>
            <a:r>
              <a:rPr lang="tr-TR" sz="2400" i="1" dirty="0" err="1"/>
              <a:t>classification</a:t>
            </a:r>
            <a:r>
              <a:rPr lang="tr-TR" sz="2400" i="1" dirty="0"/>
              <a:t> of</a:t>
            </a:r>
            <a:br>
              <a:rPr lang="tr-TR" sz="2400" i="1" dirty="0"/>
            </a:br>
            <a:r>
              <a:rPr lang="tr-TR" sz="2400" i="1" dirty="0"/>
              <a:t> 2 </a:t>
            </a:r>
            <a:r>
              <a:rPr lang="tr-TR" sz="2400" i="1" dirty="0" err="1"/>
              <a:t>different</a:t>
            </a:r>
            <a:r>
              <a:rPr lang="tr-TR" sz="2400" i="1" dirty="0"/>
              <a:t> </a:t>
            </a:r>
            <a:r>
              <a:rPr lang="tr-TR" sz="2400" i="1" dirty="0" err="1"/>
              <a:t>sample</a:t>
            </a:r>
            <a:r>
              <a:rPr lang="tr-TR" sz="2400" i="1" dirty="0"/>
              <a:t> (</a:t>
            </a:r>
            <a:r>
              <a:rPr lang="tr-TR" sz="2400" i="1" dirty="0" err="1"/>
              <a:t>Accuracy</a:t>
            </a:r>
            <a:r>
              <a:rPr lang="tr-TR" sz="2400" i="1" dirty="0"/>
              <a:t> %86.36)</a:t>
            </a:r>
            <a:endParaRPr lang="en-GB" sz="2400" i="1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1D2886B-E3A3-3158-A9CA-9293D7FD4329}"/>
              </a:ext>
            </a:extLst>
          </p:cNvPr>
          <p:cNvSpPr txBox="1"/>
          <p:nvPr/>
        </p:nvSpPr>
        <p:spPr>
          <a:xfrm>
            <a:off x="1059170" y="6030471"/>
            <a:ext cx="4626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i="1" dirty="0" err="1"/>
              <a:t>Confusion</a:t>
            </a:r>
            <a:r>
              <a:rPr lang="tr-TR" sz="2400" i="1" dirty="0"/>
              <a:t> </a:t>
            </a:r>
            <a:r>
              <a:rPr lang="tr-TR" sz="2400" i="1" dirty="0" err="1"/>
              <a:t>matrix</a:t>
            </a:r>
            <a:r>
              <a:rPr lang="tr-TR" sz="2400" i="1" dirty="0"/>
              <a:t> of </a:t>
            </a:r>
            <a:r>
              <a:rPr lang="tr-TR" sz="2400" i="1" dirty="0" err="1"/>
              <a:t>classification</a:t>
            </a:r>
            <a:r>
              <a:rPr lang="tr-TR" sz="2400" i="1" dirty="0"/>
              <a:t> of 8 </a:t>
            </a:r>
            <a:r>
              <a:rPr lang="tr-TR" sz="2400" i="1" dirty="0" err="1"/>
              <a:t>different</a:t>
            </a:r>
            <a:r>
              <a:rPr lang="tr-TR" sz="2400" i="1" dirty="0"/>
              <a:t> </a:t>
            </a:r>
            <a:r>
              <a:rPr lang="tr-TR" sz="2400" i="1" dirty="0" err="1"/>
              <a:t>sample</a:t>
            </a:r>
            <a:r>
              <a:rPr lang="tr-TR" sz="2400" i="1" dirty="0"/>
              <a:t> (</a:t>
            </a:r>
            <a:r>
              <a:rPr lang="tr-TR" sz="2400" i="1" dirty="0" err="1"/>
              <a:t>Accuracy</a:t>
            </a:r>
            <a:r>
              <a:rPr lang="tr-TR" sz="2400" i="1" dirty="0"/>
              <a:t> %8.77)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250083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4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r>
              <a:rPr lang="tr-TR" dirty="0"/>
              <a:t>	</a:t>
            </a:r>
            <a:r>
              <a:rPr lang="tr-TR" dirty="0" err="1"/>
              <a:t>i.Schedule</a:t>
            </a:r>
            <a:br>
              <a:rPr lang="tr-TR" dirty="0"/>
            </a:br>
            <a:endParaRPr lang="en-GB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81138D-1287-5F8D-5203-D2585F14A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Development of a </a:t>
            </a:r>
            <a:r>
              <a:rPr lang="tr-TR" dirty="0" err="1"/>
              <a:t>new</a:t>
            </a:r>
            <a:r>
              <a:rPr lang="tr-TR" dirty="0"/>
              <a:t> data </a:t>
            </a:r>
            <a:r>
              <a:rPr lang="tr-TR" dirty="0" err="1"/>
              <a:t>acquisition</a:t>
            </a:r>
            <a:r>
              <a:rPr lang="tr-TR" dirty="0"/>
              <a:t> </a:t>
            </a:r>
            <a:r>
              <a:rPr lang="tr-TR" dirty="0" err="1"/>
              <a:t>device</a:t>
            </a:r>
            <a:r>
              <a:rPr lang="tr-TR" dirty="0"/>
              <a:t> (2 </a:t>
            </a:r>
            <a:r>
              <a:rPr lang="tr-TR" dirty="0" err="1"/>
              <a:t>Weeks</a:t>
            </a:r>
            <a:r>
              <a:rPr lang="tr-TR" dirty="0"/>
              <a:t>)</a:t>
            </a:r>
          </a:p>
          <a:p>
            <a:r>
              <a:rPr lang="tr-TR" dirty="0" err="1"/>
              <a:t>Literature</a:t>
            </a:r>
            <a:r>
              <a:rPr lang="tr-TR" dirty="0"/>
              <a:t> </a:t>
            </a:r>
            <a:r>
              <a:rPr lang="tr-TR" dirty="0" err="1"/>
              <a:t>review</a:t>
            </a:r>
            <a:r>
              <a:rPr lang="tr-TR" dirty="0"/>
              <a:t> (4 </a:t>
            </a:r>
            <a:r>
              <a:rPr lang="tr-TR" dirty="0" err="1"/>
              <a:t>Weeks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Seaching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releated</a:t>
            </a:r>
            <a:r>
              <a:rPr lang="tr-TR" dirty="0"/>
              <a:t> </a:t>
            </a:r>
            <a:r>
              <a:rPr lang="tr-TR" dirty="0" err="1"/>
              <a:t>articles</a:t>
            </a:r>
            <a:r>
              <a:rPr lang="tr-TR" dirty="0"/>
              <a:t> (1 </a:t>
            </a:r>
            <a:r>
              <a:rPr lang="tr-TR" dirty="0" err="1"/>
              <a:t>Week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Comperation</a:t>
            </a:r>
            <a:r>
              <a:rPr lang="tr-TR" dirty="0"/>
              <a:t> of </a:t>
            </a:r>
            <a:r>
              <a:rPr lang="tr-TR" dirty="0" err="1"/>
              <a:t>usage</a:t>
            </a:r>
            <a:r>
              <a:rPr lang="tr-TR" dirty="0"/>
              <a:t> of CNN </a:t>
            </a:r>
            <a:r>
              <a:rPr lang="tr-TR" dirty="0" err="1"/>
              <a:t>and</a:t>
            </a:r>
            <a:r>
              <a:rPr lang="tr-TR" dirty="0"/>
              <a:t> LSTM (3 </a:t>
            </a:r>
            <a:r>
              <a:rPr lang="tr-TR" dirty="0" err="1"/>
              <a:t>Weeks</a:t>
            </a:r>
            <a:r>
              <a:rPr lang="tr-TR" dirty="0"/>
              <a:t>)</a:t>
            </a:r>
          </a:p>
          <a:p>
            <a:r>
              <a:rPr lang="tr-TR" dirty="0" err="1"/>
              <a:t>Sample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preparation</a:t>
            </a:r>
            <a:r>
              <a:rPr lang="tr-TR" dirty="0"/>
              <a:t> (1 </a:t>
            </a:r>
            <a:r>
              <a:rPr lang="tr-TR" dirty="0" err="1"/>
              <a:t>Weeks</a:t>
            </a:r>
            <a:r>
              <a:rPr lang="tr-TR" dirty="0"/>
              <a:t>)</a:t>
            </a:r>
          </a:p>
          <a:p>
            <a:r>
              <a:rPr lang="tr-TR" dirty="0" err="1"/>
              <a:t>Pre-processing</a:t>
            </a:r>
            <a:r>
              <a:rPr lang="tr-TR" dirty="0"/>
              <a:t> </a:t>
            </a:r>
            <a:r>
              <a:rPr lang="tr-TR" dirty="0" err="1"/>
              <a:t>techniques</a:t>
            </a:r>
            <a:r>
              <a:rPr lang="tr-TR" dirty="0"/>
              <a:t> (3 </a:t>
            </a:r>
            <a:r>
              <a:rPr lang="tr-TR" dirty="0" err="1"/>
              <a:t>Weeks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Yule-Walker</a:t>
            </a:r>
            <a:r>
              <a:rPr lang="tr-TR" dirty="0"/>
              <a:t> AR </a:t>
            </a:r>
            <a:r>
              <a:rPr lang="tr-TR" dirty="0" err="1"/>
              <a:t>Method</a:t>
            </a:r>
            <a:endParaRPr lang="tr-TR" dirty="0"/>
          </a:p>
          <a:p>
            <a:pPr lvl="1"/>
            <a:r>
              <a:rPr lang="tr-TR" dirty="0" err="1"/>
              <a:t>Wavelets</a:t>
            </a:r>
            <a:endParaRPr lang="tr-TR" dirty="0"/>
          </a:p>
          <a:p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Visualization</a:t>
            </a:r>
            <a:r>
              <a:rPr lang="tr-TR" dirty="0"/>
              <a:t> (1 </a:t>
            </a:r>
            <a:r>
              <a:rPr lang="tr-TR" dirty="0" err="1"/>
              <a:t>Week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t-SNE, UMAP</a:t>
            </a:r>
          </a:p>
          <a:p>
            <a:r>
              <a:rPr lang="tr-TR" dirty="0" err="1"/>
              <a:t>Classification</a:t>
            </a:r>
            <a:r>
              <a:rPr lang="tr-TR" dirty="0"/>
              <a:t> (3 </a:t>
            </a:r>
            <a:r>
              <a:rPr lang="tr-TR" dirty="0" err="1"/>
              <a:t>Weeks</a:t>
            </a:r>
            <a:r>
              <a:rPr lang="tr-T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941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81138D-1287-5F8D-5203-D2585F14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578" y="1868894"/>
            <a:ext cx="9511221" cy="4351338"/>
          </a:xfrm>
        </p:spPr>
        <p:txBody>
          <a:bodyPr>
            <a:normAutofit fontScale="92500"/>
          </a:bodyPr>
          <a:lstStyle/>
          <a:p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tests</a:t>
            </a:r>
            <a:r>
              <a:rPr lang="tr-TR" dirty="0"/>
              <a:t> on a 3D printer as a </a:t>
            </a:r>
            <a:r>
              <a:rPr lang="tr-TR" dirty="0" err="1"/>
              <a:t>cartesian</a:t>
            </a:r>
            <a:r>
              <a:rPr lang="tr-TR" dirty="0"/>
              <a:t> robot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manipulating</a:t>
            </a:r>
            <a:r>
              <a:rPr lang="tr-TR" dirty="0"/>
              <a:t> GCODE of </a:t>
            </a:r>
            <a:r>
              <a:rPr lang="tr-TR" dirty="0" err="1"/>
              <a:t>the</a:t>
            </a:r>
            <a:r>
              <a:rPr lang="tr-TR" dirty="0"/>
              <a:t> printer </a:t>
            </a:r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issues</a:t>
            </a:r>
            <a:r>
              <a:rPr lang="tr-TR" dirty="0"/>
              <a:t> </a:t>
            </a:r>
            <a:r>
              <a:rPr lang="tr-TR" dirty="0" err="1"/>
              <a:t>occured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Extruder</a:t>
            </a:r>
            <a:r>
              <a:rPr lang="tr-TR" dirty="0"/>
              <a:t>, </a:t>
            </a:r>
            <a:r>
              <a:rPr lang="tr-TR" dirty="0" err="1"/>
              <a:t>heatbed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fans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printer </a:t>
            </a:r>
            <a:r>
              <a:rPr lang="tr-TR" dirty="0" err="1"/>
              <a:t>cannot</a:t>
            </a:r>
            <a:r>
              <a:rPr lang="tr-TR" dirty="0"/>
              <a:t> be </a:t>
            </a:r>
            <a:r>
              <a:rPr lang="tr-TR" dirty="0" err="1"/>
              <a:t>shut</a:t>
            </a:r>
            <a:r>
              <a:rPr lang="tr-TR" dirty="0"/>
              <a:t> </a:t>
            </a:r>
            <a:r>
              <a:rPr lang="tr-TR" dirty="0" err="1"/>
              <a:t>down</a:t>
            </a:r>
            <a:r>
              <a:rPr lang="tr-TR" dirty="0"/>
              <a:t> </a:t>
            </a:r>
            <a:r>
              <a:rPr lang="tr-TR" dirty="0" err="1"/>
              <a:t>completely</a:t>
            </a:r>
            <a:r>
              <a:rPr lang="tr-TR" dirty="0"/>
              <a:t>. 3D printer </a:t>
            </a:r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starts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heating</a:t>
            </a:r>
            <a:r>
              <a:rPr lang="tr-TR" dirty="0"/>
              <a:t>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bed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nozzle</a:t>
            </a:r>
            <a:r>
              <a:rPr lang="tr-TR" dirty="0"/>
              <a:t>, it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controls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fan. </a:t>
            </a:r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might</a:t>
            </a:r>
            <a:r>
              <a:rPr lang="tr-TR" dirty="0"/>
              <a:t> </a:t>
            </a:r>
            <a:r>
              <a:rPr lang="tr-TR" dirty="0" err="1"/>
              <a:t>cause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due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temperature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sensor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charge</a:t>
            </a:r>
            <a:r>
              <a:rPr lang="tr-TR" dirty="0"/>
              <a:t> </a:t>
            </a:r>
            <a:r>
              <a:rPr lang="tr-TR" dirty="0" err="1"/>
              <a:t>circulation</a:t>
            </a:r>
            <a:r>
              <a:rPr lang="tr-TR" dirty="0"/>
              <a:t> </a:t>
            </a:r>
            <a:r>
              <a:rPr lang="tr-TR" dirty="0" err="1"/>
              <a:t>due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fans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GCODE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sampling</a:t>
            </a:r>
            <a:r>
              <a:rPr lang="tr-TR" dirty="0"/>
              <a:t> program </a:t>
            </a:r>
            <a:r>
              <a:rPr lang="tr-TR" dirty="0" err="1"/>
              <a:t>works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delay</a:t>
            </a:r>
            <a:r>
              <a:rPr lang="tr-TR" dirty="0"/>
              <a:t> </a:t>
            </a:r>
            <a:r>
              <a:rPr lang="tr-TR" dirty="0" err="1"/>
              <a:t>because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lack</a:t>
            </a:r>
            <a:r>
              <a:rPr lang="tr-TR" dirty="0"/>
              <a:t> of I/O port on a </a:t>
            </a:r>
            <a:r>
              <a:rPr lang="tr-TR" dirty="0" err="1"/>
              <a:t>commercial</a:t>
            </a:r>
            <a:r>
              <a:rPr lang="tr-TR" dirty="0"/>
              <a:t> 3D printer.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synchronisation</a:t>
            </a:r>
            <a:r>
              <a:rPr lang="tr-TR" dirty="0"/>
              <a:t> can be </a:t>
            </a:r>
            <a:r>
              <a:rPr lang="tr-TR" dirty="0" err="1"/>
              <a:t>only</a:t>
            </a:r>
            <a:r>
              <a:rPr lang="tr-TR" dirty="0"/>
              <a:t> </a:t>
            </a:r>
            <a:r>
              <a:rPr lang="tr-TR" dirty="0" err="1"/>
              <a:t>achieve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programs</a:t>
            </a:r>
            <a:r>
              <a:rPr lang="tr-TR" dirty="0"/>
              <a:t> 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same</a:t>
            </a:r>
            <a:r>
              <a:rPr lang="tr-TR" dirty="0"/>
              <a:t> time. </a:t>
            </a:r>
          </a:p>
          <a:p>
            <a:pPr lvl="1"/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measurable</a:t>
            </a:r>
            <a:r>
              <a:rPr lang="tr-TR" dirty="0"/>
              <a:t> </a:t>
            </a:r>
            <a:r>
              <a:rPr lang="tr-TR" dirty="0" err="1"/>
              <a:t>significant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signal</a:t>
            </a:r>
            <a:r>
              <a:rPr lang="tr-TR" dirty="0"/>
              <a:t>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changing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distance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sample</a:t>
            </a:r>
            <a:r>
              <a:rPr lang="tr-TR" dirty="0"/>
              <a:t> in a 25cm </a:t>
            </a:r>
            <a:r>
              <a:rPr lang="tr-TR" dirty="0" err="1"/>
              <a:t>range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sensor can </a:t>
            </a:r>
            <a:r>
              <a:rPr lang="tr-TR" dirty="0" err="1"/>
              <a:t>give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measuring</a:t>
            </a:r>
            <a:r>
              <a:rPr lang="tr-TR" dirty="0"/>
              <a:t> </a:t>
            </a:r>
            <a:r>
              <a:rPr lang="tr-TR" dirty="0" err="1"/>
              <a:t>samples</a:t>
            </a:r>
            <a:r>
              <a:rPr lang="tr-TR" dirty="0"/>
              <a:t> at </a:t>
            </a:r>
            <a:r>
              <a:rPr lang="tr-TR" dirty="0" err="1"/>
              <a:t>meter</a:t>
            </a:r>
            <a:r>
              <a:rPr lang="tr-TR" dirty="0"/>
              <a:t> </a:t>
            </a:r>
            <a:r>
              <a:rPr lang="tr-TR" dirty="0" err="1"/>
              <a:t>scale</a:t>
            </a:r>
            <a:r>
              <a:rPr lang="tr-TR" dirty="0"/>
              <a:t> </a:t>
            </a:r>
            <a:r>
              <a:rPr lang="tr-TR" dirty="0" err="1"/>
              <a:t>distance</a:t>
            </a:r>
            <a:r>
              <a:rPr lang="tr-TR" dirty="0"/>
              <a:t>. </a:t>
            </a:r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could</a:t>
            </a:r>
            <a:r>
              <a:rPr lang="tr-TR" dirty="0"/>
              <a:t> not be </a:t>
            </a:r>
            <a:r>
              <a:rPr lang="tr-TR" dirty="0" err="1"/>
              <a:t>observed</a:t>
            </a:r>
            <a:r>
              <a:rPr lang="tr-TR" dirty="0"/>
              <a:t>, </a:t>
            </a:r>
            <a:r>
              <a:rPr lang="tr-TR" dirty="0" err="1"/>
              <a:t>because</a:t>
            </a:r>
            <a:r>
              <a:rPr lang="tr-TR" dirty="0"/>
              <a:t> Z-</a:t>
            </a:r>
            <a:r>
              <a:rPr lang="tr-TR" dirty="0" err="1"/>
              <a:t>axis</a:t>
            </a:r>
            <a:r>
              <a:rPr lang="tr-TR" dirty="0"/>
              <a:t> of a 3D printer is </a:t>
            </a:r>
            <a:r>
              <a:rPr lang="tr-TR" dirty="0" err="1"/>
              <a:t>limited</a:t>
            </a:r>
            <a:r>
              <a:rPr lang="tr-TR" dirty="0"/>
              <a:t>. </a:t>
            </a:r>
          </a:p>
          <a:p>
            <a:endParaRPr lang="tr-TR" dirty="0"/>
          </a:p>
          <a:p>
            <a:pPr lvl="1"/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/>
              <a:t>Development of a </a:t>
            </a:r>
            <a:r>
              <a:rPr lang="tr-TR" sz="2800" dirty="0" err="1"/>
              <a:t>new</a:t>
            </a:r>
            <a:r>
              <a:rPr lang="tr-TR" sz="2800" dirty="0"/>
              <a:t> data </a:t>
            </a:r>
            <a:r>
              <a:rPr lang="tr-TR" sz="2800" dirty="0" err="1"/>
              <a:t>acquisition</a:t>
            </a:r>
            <a:r>
              <a:rPr lang="tr-TR" sz="2800" dirty="0"/>
              <a:t> </a:t>
            </a:r>
            <a:r>
              <a:rPr lang="tr-TR" sz="2800" dirty="0" err="1"/>
              <a:t>device</a:t>
            </a:r>
            <a:r>
              <a:rPr lang="tr-TR" sz="2800" dirty="0"/>
              <a:t> (2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9850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81138D-1287-5F8D-5203-D2585F14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579" y="1868894"/>
            <a:ext cx="7466792" cy="4351338"/>
          </a:xfrm>
        </p:spPr>
        <p:txBody>
          <a:bodyPr>
            <a:normAutofit/>
          </a:bodyPr>
          <a:lstStyle/>
          <a:p>
            <a:r>
              <a:rPr lang="tr-TR" dirty="0"/>
              <a:t>A 2-axis </a:t>
            </a:r>
            <a:r>
              <a:rPr lang="tr-TR" dirty="0" err="1"/>
              <a:t>cartesian</a:t>
            </a:r>
            <a:r>
              <a:rPr lang="tr-TR" dirty="0"/>
              <a:t> platform </a:t>
            </a:r>
            <a:r>
              <a:rPr lang="tr-TR" dirty="0" err="1"/>
              <a:t>with</a:t>
            </a:r>
            <a:r>
              <a:rPr lang="tr-TR" dirty="0"/>
              <a:t> a Arduino </a:t>
            </a:r>
            <a:r>
              <a:rPr lang="tr-TR" dirty="0" err="1"/>
              <a:t>based</a:t>
            </a:r>
            <a:r>
              <a:rPr lang="tr-TR" dirty="0"/>
              <a:t> </a:t>
            </a:r>
            <a:r>
              <a:rPr lang="tr-TR" dirty="0" err="1"/>
              <a:t>microcontroller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</a:t>
            </a:r>
            <a:r>
              <a:rPr lang="tr-TR" dirty="0" err="1"/>
              <a:t>used</a:t>
            </a:r>
            <a:r>
              <a:rPr lang="tr-TR" dirty="0"/>
              <a:t> as 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sampling</a:t>
            </a:r>
            <a:r>
              <a:rPr lang="tr-TR" dirty="0"/>
              <a:t> </a:t>
            </a:r>
            <a:r>
              <a:rPr lang="tr-TR" dirty="0" err="1"/>
              <a:t>device</a:t>
            </a:r>
            <a:r>
              <a:rPr lang="tr-TR" dirty="0"/>
              <a:t>.</a:t>
            </a:r>
          </a:p>
          <a:p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laser</a:t>
            </a:r>
            <a:r>
              <a:rPr lang="tr-TR" dirty="0"/>
              <a:t> can be </a:t>
            </a:r>
            <a:r>
              <a:rPr lang="tr-TR" dirty="0" err="1"/>
              <a:t>moved</a:t>
            </a:r>
            <a:r>
              <a:rPr lang="tr-TR" dirty="0"/>
              <a:t> on </a:t>
            </a:r>
            <a:r>
              <a:rPr lang="tr-TR" dirty="0" err="1"/>
              <a:t>horizontally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vertically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laser</a:t>
            </a:r>
            <a:r>
              <a:rPr lang="tr-TR" dirty="0"/>
              <a:t> can be </a:t>
            </a:r>
            <a:r>
              <a:rPr lang="tr-TR" dirty="0" err="1"/>
              <a:t>placed</a:t>
            </a:r>
            <a:r>
              <a:rPr lang="tr-TR" dirty="0"/>
              <a:t> 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desired</a:t>
            </a:r>
            <a:r>
              <a:rPr lang="tr-TR" dirty="0"/>
              <a:t> </a:t>
            </a:r>
            <a:r>
              <a:rPr lang="tr-TR" dirty="0" err="1"/>
              <a:t>measurement</a:t>
            </a:r>
            <a:r>
              <a:rPr lang="tr-TR" dirty="0"/>
              <a:t> </a:t>
            </a:r>
            <a:r>
              <a:rPr lang="tr-TR" dirty="0" err="1"/>
              <a:t>distance</a:t>
            </a:r>
            <a:endParaRPr lang="tr-TR" dirty="0"/>
          </a:p>
          <a:p>
            <a:r>
              <a:rPr lang="tr-TR" dirty="0" err="1"/>
              <a:t>Laser</a:t>
            </a:r>
            <a:r>
              <a:rPr lang="tr-TR" dirty="0"/>
              <a:t> can be </a:t>
            </a:r>
            <a:r>
              <a:rPr lang="tr-TR" dirty="0" err="1"/>
              <a:t>moved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controlled</a:t>
            </a:r>
            <a:r>
              <a:rPr lang="tr-TR" dirty="0"/>
              <a:t> </a:t>
            </a:r>
            <a:r>
              <a:rPr lang="tr-TR" dirty="0" err="1"/>
              <a:t>synchronously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microcontroller</a:t>
            </a:r>
            <a:r>
              <a:rPr lang="tr-TR" dirty="0"/>
              <a:t>.</a:t>
            </a:r>
          </a:p>
          <a:p>
            <a:pPr lvl="1"/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/>
              <a:t>Development of a </a:t>
            </a:r>
            <a:r>
              <a:rPr lang="tr-TR" sz="2800" dirty="0" err="1"/>
              <a:t>new</a:t>
            </a:r>
            <a:r>
              <a:rPr lang="tr-TR" sz="2800" dirty="0"/>
              <a:t> data </a:t>
            </a:r>
            <a:r>
              <a:rPr lang="tr-TR" sz="2800" dirty="0" err="1"/>
              <a:t>acquisition</a:t>
            </a:r>
            <a:r>
              <a:rPr lang="tr-TR" sz="2800" dirty="0"/>
              <a:t> </a:t>
            </a:r>
            <a:r>
              <a:rPr lang="tr-TR" sz="2800" dirty="0" err="1"/>
              <a:t>device</a:t>
            </a:r>
            <a:r>
              <a:rPr lang="tr-TR" sz="2800" dirty="0"/>
              <a:t> (2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DCCEAF-9BF7-A49C-D4A3-CCD1AF965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173E2363-972E-139B-9C30-DA65A96B6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321" y="3567207"/>
            <a:ext cx="4287896" cy="2829128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F1D84C97-470B-56FA-1B20-5FD0A1851247}"/>
              </a:ext>
            </a:extLst>
          </p:cNvPr>
          <p:cNvSpPr txBox="1"/>
          <p:nvPr/>
        </p:nvSpPr>
        <p:spPr>
          <a:xfrm>
            <a:off x="8099101" y="6396335"/>
            <a:ext cx="3664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i="1" dirty="0"/>
              <a:t>2-axis </a:t>
            </a:r>
            <a:r>
              <a:rPr lang="tr-TR" sz="2400" i="1" dirty="0" err="1"/>
              <a:t>cartesian</a:t>
            </a:r>
            <a:r>
              <a:rPr lang="tr-TR" sz="2400" i="1" dirty="0"/>
              <a:t> </a:t>
            </a:r>
            <a:r>
              <a:rPr lang="tr-TR" sz="2400" i="1" dirty="0" err="1"/>
              <a:t>laser</a:t>
            </a:r>
            <a:r>
              <a:rPr lang="tr-TR" sz="2400" i="1" dirty="0"/>
              <a:t> </a:t>
            </a:r>
            <a:r>
              <a:rPr lang="tr-TR" sz="2400" i="1" dirty="0" err="1"/>
              <a:t>cutter</a:t>
            </a:r>
            <a:r>
              <a:rPr lang="tr-TR" sz="2400" i="1" dirty="0"/>
              <a:t> 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2611113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81138D-1287-5F8D-5203-D2585F14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6" y="1868894"/>
            <a:ext cx="10089204" cy="4351338"/>
          </a:xfrm>
        </p:spPr>
        <p:txBody>
          <a:bodyPr>
            <a:normAutofit/>
          </a:bodyPr>
          <a:lstStyle/>
          <a:p>
            <a:pPr lvl="1"/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semester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a </a:t>
            </a:r>
            <a:r>
              <a:rPr lang="tr-TR" dirty="0" err="1"/>
              <a:t>quick</a:t>
            </a:r>
            <a:r>
              <a:rPr lang="tr-TR" dirty="0"/>
              <a:t> </a:t>
            </a:r>
            <a:r>
              <a:rPr lang="tr-TR" dirty="0" err="1"/>
              <a:t>literature</a:t>
            </a:r>
            <a:r>
              <a:rPr lang="tr-TR" dirty="0"/>
              <a:t> </a:t>
            </a:r>
            <a:r>
              <a:rPr lang="tr-TR" dirty="0" err="1"/>
              <a:t>search</a:t>
            </a:r>
            <a:r>
              <a:rPr lang="tr-TR" dirty="0"/>
              <a:t>. (1 </a:t>
            </a:r>
            <a:r>
              <a:rPr lang="tr-TR" dirty="0" err="1"/>
              <a:t>Week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Classifying</a:t>
            </a:r>
            <a:r>
              <a:rPr lang="tr-TR" dirty="0"/>
              <a:t> a </a:t>
            </a:r>
            <a:r>
              <a:rPr lang="tr-TR" dirty="0" err="1"/>
              <a:t>spectogram</a:t>
            </a:r>
            <a:r>
              <a:rPr lang="tr-TR" dirty="0"/>
              <a:t> can be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achieved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visual</a:t>
            </a:r>
            <a:r>
              <a:rPr lang="tr-TR" dirty="0"/>
              <a:t> </a:t>
            </a:r>
            <a:r>
              <a:rPr lang="tr-TR" dirty="0" err="1"/>
              <a:t>representation</a:t>
            </a:r>
            <a:r>
              <a:rPr lang="tr-TR" dirty="0"/>
              <a:t> of a </a:t>
            </a:r>
            <a:r>
              <a:rPr lang="tr-TR" dirty="0" err="1"/>
              <a:t>spectrogram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Convolutional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Network (CNN) </a:t>
            </a:r>
          </a:p>
          <a:p>
            <a:pPr lvl="2"/>
            <a:r>
              <a:rPr lang="tr-TR" dirty="0"/>
              <a:t>LSTM </a:t>
            </a:r>
            <a:r>
              <a:rPr lang="tr-TR" dirty="0" err="1"/>
              <a:t>and</a:t>
            </a:r>
            <a:r>
              <a:rPr lang="tr-TR" dirty="0"/>
              <a:t> CNN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going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compared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a </a:t>
            </a:r>
            <a:r>
              <a:rPr lang="tr-TR" dirty="0" err="1"/>
              <a:t>ready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.[1] (3 </a:t>
            </a:r>
            <a:r>
              <a:rPr lang="tr-TR" dirty="0" err="1"/>
              <a:t>Weeks</a:t>
            </a:r>
            <a:r>
              <a:rPr lang="tr-TR" dirty="0"/>
              <a:t>)</a:t>
            </a:r>
          </a:p>
          <a:p>
            <a:pPr lvl="2"/>
            <a:r>
              <a:rPr lang="tr-TR" dirty="0" err="1"/>
              <a:t>This</a:t>
            </a:r>
            <a:r>
              <a:rPr lang="tr-TR" dirty="0"/>
              <a:t> is an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milestone</a:t>
            </a:r>
            <a:r>
              <a:rPr lang="tr-TR" dirty="0"/>
              <a:t> </a:t>
            </a:r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preparation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 </a:t>
            </a:r>
          </a:p>
          <a:p>
            <a:pPr lvl="1"/>
            <a:endParaRPr lang="tr-TR" dirty="0"/>
          </a:p>
          <a:p>
            <a:pPr lvl="2"/>
            <a:endParaRPr lang="tr-TR" dirty="0"/>
          </a:p>
          <a:p>
            <a:pPr lvl="2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 err="1"/>
              <a:t>Literature</a:t>
            </a:r>
            <a:r>
              <a:rPr lang="tr-TR" sz="2800" dirty="0"/>
              <a:t> </a:t>
            </a:r>
            <a:r>
              <a:rPr lang="tr-TR" sz="2800" dirty="0" err="1"/>
              <a:t>review</a:t>
            </a:r>
            <a:r>
              <a:rPr lang="tr-TR" sz="2800" dirty="0"/>
              <a:t> (4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DCCEAF-9BF7-A49C-D4A3-CCD1AF965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9A959A7B-5A38-373F-D2C8-FDFDE7863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632" y="3715966"/>
            <a:ext cx="5326168" cy="2528585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3813AAFE-D714-27D1-3161-9E585600D841}"/>
              </a:ext>
            </a:extLst>
          </p:cNvPr>
          <p:cNvSpPr txBox="1"/>
          <p:nvPr/>
        </p:nvSpPr>
        <p:spPr>
          <a:xfrm>
            <a:off x="6507805" y="6123965"/>
            <a:ext cx="4578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err="1"/>
              <a:t>Classifying</a:t>
            </a:r>
            <a:r>
              <a:rPr lang="tr-TR" sz="2400" dirty="0"/>
              <a:t> </a:t>
            </a:r>
            <a:r>
              <a:rPr lang="tr-TR" sz="2400" dirty="0" err="1"/>
              <a:t>audio</a:t>
            </a:r>
            <a:r>
              <a:rPr lang="tr-TR" sz="2400" dirty="0"/>
              <a:t> </a:t>
            </a:r>
            <a:r>
              <a:rPr lang="tr-TR" sz="2400" dirty="0" err="1"/>
              <a:t>signals</a:t>
            </a:r>
            <a:r>
              <a:rPr lang="tr-TR" sz="2400" dirty="0"/>
              <a:t> </a:t>
            </a:r>
            <a:r>
              <a:rPr lang="tr-TR" sz="2400" dirty="0" err="1"/>
              <a:t>by</a:t>
            </a:r>
            <a:r>
              <a:rPr lang="tr-TR" sz="2400" dirty="0"/>
              <a:t> CNN [1]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4135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81138D-1287-5F8D-5203-D2585F14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6" y="1868894"/>
            <a:ext cx="10089204" cy="4351338"/>
          </a:xfrm>
        </p:spPr>
        <p:txBody>
          <a:bodyPr>
            <a:normAutofit/>
          </a:bodyPr>
          <a:lstStyle/>
          <a:p>
            <a:pPr lvl="1"/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milestone</a:t>
            </a:r>
            <a:r>
              <a:rPr lang="tr-TR" dirty="0"/>
              <a:t> is </a:t>
            </a:r>
            <a:r>
              <a:rPr lang="tr-TR" dirty="0" err="1"/>
              <a:t>basically</a:t>
            </a:r>
            <a:r>
              <a:rPr lang="tr-TR" dirty="0"/>
              <a:t> </a:t>
            </a:r>
            <a:r>
              <a:rPr lang="tr-TR" dirty="0" err="1"/>
              <a:t>preparation</a:t>
            </a:r>
            <a:r>
              <a:rPr lang="tr-TR" dirty="0"/>
              <a:t> of </a:t>
            </a:r>
            <a:r>
              <a:rPr lang="tr-TR" dirty="0" err="1"/>
              <a:t>samples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data </a:t>
            </a:r>
            <a:r>
              <a:rPr lang="tr-TR" dirty="0" err="1"/>
              <a:t>acquision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. </a:t>
            </a:r>
          </a:p>
          <a:p>
            <a:pPr lvl="1"/>
            <a:r>
              <a:rPr lang="tr-TR" dirty="0" err="1"/>
              <a:t>Creating</a:t>
            </a:r>
            <a:r>
              <a:rPr lang="tr-TR" dirty="0"/>
              <a:t> a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consists</a:t>
            </a:r>
            <a:r>
              <a:rPr lang="tr-TR" dirty="0"/>
              <a:t> of 8 </a:t>
            </a:r>
            <a:r>
              <a:rPr lang="tr-TR" dirty="0" err="1"/>
              <a:t>sample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36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 (288 time </a:t>
            </a:r>
            <a:r>
              <a:rPr lang="tr-TR" dirty="0" err="1"/>
              <a:t>series</a:t>
            </a:r>
            <a:r>
              <a:rPr lang="tr-TR" dirty="0"/>
              <a:t>, </a:t>
            </a:r>
            <a:r>
              <a:rPr lang="tr-TR" dirty="0" err="1"/>
              <a:t>each</a:t>
            </a:r>
            <a:r>
              <a:rPr lang="tr-TR" dirty="0"/>
              <a:t> time </a:t>
            </a:r>
            <a:r>
              <a:rPr lang="tr-TR" dirty="0" err="1"/>
              <a:t>series</a:t>
            </a:r>
            <a:r>
              <a:rPr lang="tr-TR" dirty="0"/>
              <a:t> </a:t>
            </a:r>
            <a:r>
              <a:rPr lang="tr-TR" dirty="0" err="1"/>
              <a:t>consists</a:t>
            </a:r>
            <a:r>
              <a:rPr lang="tr-TR" dirty="0"/>
              <a:t> of 4000 </a:t>
            </a:r>
            <a:r>
              <a:rPr lang="tr-TR" dirty="0" err="1"/>
              <a:t>sample</a:t>
            </a:r>
            <a:r>
              <a:rPr lang="tr-TR" dirty="0"/>
              <a:t>) </a:t>
            </a:r>
            <a:r>
              <a:rPr lang="tr-TR" dirty="0" err="1"/>
              <a:t>takes</a:t>
            </a:r>
            <a:r>
              <a:rPr lang="tr-TR" dirty="0"/>
              <a:t> 13 </a:t>
            </a:r>
            <a:r>
              <a:rPr lang="tr-TR" dirty="0" err="1"/>
              <a:t>hours</a:t>
            </a:r>
            <a:r>
              <a:rPr lang="tr-TR" dirty="0"/>
              <a:t>. </a:t>
            </a:r>
          </a:p>
          <a:p>
            <a:pPr lvl="1"/>
            <a:r>
              <a:rPr lang="tr-TR" dirty="0" err="1"/>
              <a:t>Increasing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material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sample</a:t>
            </a:r>
            <a:r>
              <a:rPr lang="tr-TR" dirty="0"/>
              <a:t> is </a:t>
            </a:r>
            <a:r>
              <a:rPr lang="tr-TR" dirty="0" err="1"/>
              <a:t>going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require</a:t>
            </a:r>
            <a:r>
              <a:rPr lang="tr-TR" dirty="0"/>
              <a:t> </a:t>
            </a:r>
            <a:r>
              <a:rPr lang="tr-TR" dirty="0" err="1"/>
              <a:t>longer</a:t>
            </a:r>
            <a:r>
              <a:rPr lang="tr-TR" dirty="0"/>
              <a:t> time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create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.</a:t>
            </a:r>
          </a:p>
          <a:p>
            <a:pPr marL="457200" lvl="1" indent="0">
              <a:buNone/>
            </a:pPr>
            <a:endParaRPr lang="tr-TR" dirty="0"/>
          </a:p>
          <a:p>
            <a:pPr lvl="2"/>
            <a:endParaRPr lang="tr-TR" dirty="0"/>
          </a:p>
          <a:p>
            <a:pPr lvl="2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 err="1"/>
              <a:t>Sample</a:t>
            </a:r>
            <a:r>
              <a:rPr lang="tr-TR" sz="2800" dirty="0"/>
              <a:t> </a:t>
            </a:r>
            <a:r>
              <a:rPr lang="tr-TR" sz="2800" dirty="0" err="1"/>
              <a:t>and</a:t>
            </a:r>
            <a:r>
              <a:rPr lang="tr-TR" sz="2800" dirty="0"/>
              <a:t> </a:t>
            </a:r>
            <a:r>
              <a:rPr lang="tr-TR" sz="2800" dirty="0" err="1"/>
              <a:t>dataset</a:t>
            </a:r>
            <a:r>
              <a:rPr lang="tr-TR" sz="2800" dirty="0"/>
              <a:t> </a:t>
            </a:r>
            <a:r>
              <a:rPr lang="tr-TR" sz="2800" dirty="0" err="1"/>
              <a:t>preparation</a:t>
            </a:r>
            <a:r>
              <a:rPr lang="tr-TR" sz="2800" dirty="0"/>
              <a:t> (1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DCCEAF-9BF7-A49C-D4A3-CCD1AF965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69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81138D-1287-5F8D-5203-D2585F14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657" y="3429000"/>
            <a:ext cx="4007795" cy="2489097"/>
          </a:xfrm>
        </p:spPr>
        <p:txBody>
          <a:bodyPr>
            <a:normAutofit/>
          </a:bodyPr>
          <a:lstStyle/>
          <a:p>
            <a:pPr lvl="1"/>
            <a:r>
              <a:rPr lang="tr-TR" dirty="0" err="1"/>
              <a:t>Aluminium</a:t>
            </a:r>
            <a:endParaRPr lang="tr-TR" dirty="0"/>
          </a:p>
          <a:p>
            <a:pPr lvl="1"/>
            <a:r>
              <a:rPr lang="tr-TR" dirty="0"/>
              <a:t>Steel</a:t>
            </a:r>
          </a:p>
          <a:p>
            <a:pPr lvl="1"/>
            <a:r>
              <a:rPr lang="tr-TR" dirty="0" err="1"/>
              <a:t>Iron</a:t>
            </a:r>
            <a:endParaRPr lang="tr-TR" dirty="0"/>
          </a:p>
          <a:p>
            <a:pPr lvl="1"/>
            <a:r>
              <a:rPr lang="tr-TR" dirty="0" err="1"/>
              <a:t>Glass</a:t>
            </a:r>
            <a:endParaRPr lang="tr-TR" dirty="0"/>
          </a:p>
          <a:p>
            <a:pPr lvl="1"/>
            <a:r>
              <a:rPr lang="tr-TR" dirty="0" err="1"/>
              <a:t>Frosted</a:t>
            </a:r>
            <a:r>
              <a:rPr lang="tr-TR" dirty="0"/>
              <a:t> </a:t>
            </a:r>
            <a:r>
              <a:rPr lang="tr-TR" dirty="0" err="1"/>
              <a:t>Glass</a:t>
            </a:r>
            <a:endParaRPr lang="tr-TR" dirty="0"/>
          </a:p>
          <a:p>
            <a:pPr lvl="1"/>
            <a:r>
              <a:rPr lang="tr-TR" dirty="0" err="1"/>
              <a:t>Wood</a:t>
            </a:r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lvl="2"/>
            <a:endParaRPr lang="tr-TR" dirty="0"/>
          </a:p>
          <a:p>
            <a:pPr lvl="2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 err="1"/>
              <a:t>Sample</a:t>
            </a:r>
            <a:r>
              <a:rPr lang="tr-TR" sz="2800" dirty="0"/>
              <a:t> </a:t>
            </a:r>
            <a:r>
              <a:rPr lang="tr-TR" sz="2800" dirty="0" err="1"/>
              <a:t>and</a:t>
            </a:r>
            <a:r>
              <a:rPr lang="tr-TR" sz="2800" dirty="0"/>
              <a:t> </a:t>
            </a:r>
            <a:r>
              <a:rPr lang="tr-TR" sz="2800" dirty="0" err="1"/>
              <a:t>dataset</a:t>
            </a:r>
            <a:r>
              <a:rPr lang="tr-TR" sz="2800" dirty="0"/>
              <a:t> </a:t>
            </a:r>
            <a:r>
              <a:rPr lang="tr-TR" sz="2800" dirty="0" err="1"/>
              <a:t>preparation</a:t>
            </a:r>
            <a:r>
              <a:rPr lang="tr-TR" sz="2800" dirty="0"/>
              <a:t> (1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DCCEAF-9BF7-A49C-D4A3-CCD1AF965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BCBADEF-D767-122F-7EDB-EFBF3F45CEC6}"/>
              </a:ext>
            </a:extLst>
          </p:cNvPr>
          <p:cNvSpPr txBox="1"/>
          <p:nvPr/>
        </p:nvSpPr>
        <p:spPr>
          <a:xfrm>
            <a:off x="5857267" y="3429000"/>
            <a:ext cx="60943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400" dirty="0"/>
              <a:t>PLA (At </a:t>
            </a:r>
            <a:r>
              <a:rPr lang="tr-TR" sz="2400" dirty="0" err="1"/>
              <a:t>least</a:t>
            </a:r>
            <a:r>
              <a:rPr lang="tr-TR" sz="2400" dirty="0"/>
              <a:t> 2 </a:t>
            </a:r>
            <a:r>
              <a:rPr lang="tr-TR" sz="2400" dirty="0" err="1"/>
              <a:t>colour</a:t>
            </a:r>
            <a:r>
              <a:rPr lang="tr-TR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400" dirty="0"/>
              <a:t>PETG (At </a:t>
            </a:r>
            <a:r>
              <a:rPr lang="tr-TR" sz="2400" dirty="0" err="1"/>
              <a:t>least</a:t>
            </a:r>
            <a:r>
              <a:rPr lang="tr-TR" sz="2400" dirty="0"/>
              <a:t> 2 </a:t>
            </a:r>
            <a:r>
              <a:rPr lang="tr-TR" sz="2400" dirty="0" err="1"/>
              <a:t>colour</a:t>
            </a:r>
            <a:r>
              <a:rPr lang="tr-TR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400" dirty="0"/>
              <a:t>White TPU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400" dirty="0"/>
              <a:t>Black </a:t>
            </a:r>
            <a:r>
              <a:rPr lang="tr-TR" sz="2400" dirty="0" err="1"/>
              <a:t>Fabric</a:t>
            </a:r>
            <a:endParaRPr lang="tr-T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400" dirty="0"/>
              <a:t>White </a:t>
            </a:r>
            <a:r>
              <a:rPr lang="tr-TR" sz="2400" dirty="0" err="1"/>
              <a:t>Fabric</a:t>
            </a:r>
            <a:endParaRPr lang="tr-T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400" dirty="0" err="1"/>
              <a:t>Red</a:t>
            </a:r>
            <a:r>
              <a:rPr lang="tr-TR" sz="2400" dirty="0"/>
              <a:t> </a:t>
            </a:r>
            <a:r>
              <a:rPr lang="tr-TR" sz="2400" dirty="0" err="1"/>
              <a:t>Fabric</a:t>
            </a:r>
            <a:endParaRPr lang="tr-T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400" dirty="0" err="1"/>
              <a:t>Concrete</a:t>
            </a:r>
            <a:r>
              <a:rPr lang="tr-TR" sz="2400" dirty="0"/>
              <a:t> </a:t>
            </a:r>
            <a:r>
              <a:rPr lang="tr-TR" sz="2400" dirty="0" err="1"/>
              <a:t>block</a:t>
            </a:r>
            <a:endParaRPr lang="tr-TR" sz="2400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37CED89-6288-6813-05A4-BDB13D6E9C51}"/>
              </a:ext>
            </a:extLst>
          </p:cNvPr>
          <p:cNvSpPr txBox="1"/>
          <p:nvPr/>
        </p:nvSpPr>
        <p:spPr>
          <a:xfrm>
            <a:off x="1680160" y="2221289"/>
            <a:ext cx="9331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materials from daily life are going to be classified. These materials will be placed on a stand in front of the sampling device.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07559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 err="1"/>
              <a:t>Pre-processing</a:t>
            </a:r>
            <a:r>
              <a:rPr lang="tr-TR" sz="2800" dirty="0"/>
              <a:t> </a:t>
            </a:r>
            <a:r>
              <a:rPr lang="tr-TR" sz="2800" dirty="0" err="1"/>
              <a:t>techniques</a:t>
            </a:r>
            <a:r>
              <a:rPr lang="tr-TR" sz="2800" dirty="0"/>
              <a:t> (3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DCCEAF-9BF7-A49C-D4A3-CCD1AF965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37CED89-6288-6813-05A4-BDB13D6E9C51}"/>
              </a:ext>
            </a:extLst>
          </p:cNvPr>
          <p:cNvSpPr txBox="1"/>
          <p:nvPr/>
        </p:nvSpPr>
        <p:spPr>
          <a:xfrm>
            <a:off x="136187" y="1789610"/>
            <a:ext cx="802531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200" dirty="0" err="1"/>
              <a:t>Only</a:t>
            </a:r>
            <a:r>
              <a:rPr lang="tr-TR" sz="2200" dirty="0"/>
              <a:t> </a:t>
            </a:r>
            <a:r>
              <a:rPr lang="tr-TR" sz="2200" dirty="0" err="1"/>
              <a:t>subtraction</a:t>
            </a:r>
            <a:r>
              <a:rPr lang="tr-TR" sz="2200" dirty="0"/>
              <a:t> of </a:t>
            </a:r>
            <a:r>
              <a:rPr lang="tr-TR" sz="2200" dirty="0" err="1"/>
              <a:t>the</a:t>
            </a:r>
            <a:r>
              <a:rPr lang="tr-TR" sz="2200" dirty="0"/>
              <a:t> </a:t>
            </a:r>
            <a:r>
              <a:rPr lang="tr-TR" sz="2200" dirty="0" err="1"/>
              <a:t>environmental</a:t>
            </a:r>
            <a:r>
              <a:rPr lang="tr-TR" sz="2200" dirty="0"/>
              <a:t> </a:t>
            </a:r>
            <a:r>
              <a:rPr lang="tr-TR" sz="2200" dirty="0" err="1"/>
              <a:t>noise</a:t>
            </a:r>
            <a:r>
              <a:rPr lang="tr-TR" sz="2200" dirty="0"/>
              <a:t> </a:t>
            </a:r>
            <a:r>
              <a:rPr lang="tr-TR" sz="2200" dirty="0" err="1"/>
              <a:t>and</a:t>
            </a:r>
            <a:r>
              <a:rPr lang="tr-TR" sz="2200" dirty="0"/>
              <a:t> </a:t>
            </a:r>
            <a:r>
              <a:rPr lang="tr-TR" sz="2200" dirty="0" err="1"/>
              <a:t>Welch’s</a:t>
            </a:r>
            <a:r>
              <a:rPr lang="tr-TR" sz="2200" dirty="0"/>
              <a:t> </a:t>
            </a:r>
            <a:r>
              <a:rPr lang="tr-TR" sz="2200" dirty="0" err="1"/>
              <a:t>Method</a:t>
            </a:r>
            <a:r>
              <a:rPr lang="tr-TR" sz="2200" dirty="0"/>
              <a:t> </a:t>
            </a:r>
            <a:r>
              <a:rPr lang="tr-TR" sz="2200" dirty="0" err="1"/>
              <a:t>was</a:t>
            </a:r>
            <a:r>
              <a:rPr lang="tr-TR" sz="2200" dirty="0"/>
              <a:t> </a:t>
            </a:r>
            <a:r>
              <a:rPr lang="tr-TR" sz="2200" dirty="0" err="1"/>
              <a:t>applied</a:t>
            </a:r>
            <a:r>
              <a:rPr lang="tr-TR" sz="2200" dirty="0"/>
              <a:t> in </a:t>
            </a:r>
            <a:r>
              <a:rPr lang="tr-TR" sz="2200" dirty="0" err="1"/>
              <a:t>the</a:t>
            </a:r>
            <a:r>
              <a:rPr lang="tr-TR" sz="2200" dirty="0"/>
              <a:t> Project-I </a:t>
            </a:r>
            <a:r>
              <a:rPr lang="tr-TR" sz="2200" dirty="0" err="1"/>
              <a:t>phase</a:t>
            </a:r>
            <a:endParaRPr lang="tr-TR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200" dirty="0" err="1"/>
              <a:t>Welch’s</a:t>
            </a:r>
            <a:r>
              <a:rPr lang="tr-TR" sz="2200" dirty="0"/>
              <a:t> </a:t>
            </a:r>
            <a:r>
              <a:rPr lang="tr-TR" sz="2200" dirty="0" err="1"/>
              <a:t>Method</a:t>
            </a:r>
            <a:r>
              <a:rPr lang="tr-TR" sz="2200" dirty="0"/>
              <a:t> </a:t>
            </a:r>
            <a:r>
              <a:rPr lang="tr-TR" sz="2200" dirty="0" err="1"/>
              <a:t>provides</a:t>
            </a:r>
            <a:r>
              <a:rPr lang="tr-TR" sz="2200" dirty="0"/>
              <a:t> </a:t>
            </a:r>
            <a:r>
              <a:rPr lang="tr-TR" sz="2200" dirty="0" err="1"/>
              <a:t>information</a:t>
            </a:r>
            <a:r>
              <a:rPr lang="tr-TR" sz="2200" dirty="0"/>
              <a:t> </a:t>
            </a:r>
            <a:r>
              <a:rPr lang="tr-TR" sz="2200" dirty="0" err="1"/>
              <a:t>about</a:t>
            </a:r>
            <a:r>
              <a:rPr lang="tr-TR" sz="2200" dirty="0"/>
              <a:t> </a:t>
            </a:r>
            <a:r>
              <a:rPr lang="tr-TR" sz="2200" dirty="0" err="1"/>
              <a:t>low-frequency</a:t>
            </a:r>
            <a:r>
              <a:rPr lang="tr-TR" sz="2200" dirty="0"/>
              <a:t> </a:t>
            </a:r>
            <a:r>
              <a:rPr lang="tr-TR" sz="2200" dirty="0" err="1"/>
              <a:t>component</a:t>
            </a:r>
            <a:r>
              <a:rPr lang="tr-TR" sz="2200" dirty="0"/>
              <a:t> of </a:t>
            </a:r>
            <a:r>
              <a:rPr lang="tr-TR" sz="2200" dirty="0" err="1"/>
              <a:t>the</a:t>
            </a:r>
            <a:r>
              <a:rPr lang="tr-TR" sz="2200" dirty="0"/>
              <a:t> </a:t>
            </a:r>
            <a:r>
              <a:rPr lang="tr-TR" sz="2200" dirty="0" err="1"/>
              <a:t>signal</a:t>
            </a:r>
            <a:r>
              <a:rPr lang="tr-TR" sz="22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200" dirty="0"/>
              <a:t>Multiple </a:t>
            </a:r>
            <a:r>
              <a:rPr lang="tr-TR" sz="2200" dirty="0" err="1"/>
              <a:t>pre-processing</a:t>
            </a:r>
            <a:r>
              <a:rPr lang="tr-TR" sz="2200" dirty="0"/>
              <a:t> </a:t>
            </a:r>
            <a:r>
              <a:rPr lang="tr-TR" sz="2200" dirty="0" err="1"/>
              <a:t>technique</a:t>
            </a:r>
            <a:r>
              <a:rPr lang="tr-TR" sz="2200" dirty="0"/>
              <a:t> can be </a:t>
            </a:r>
            <a:r>
              <a:rPr lang="tr-TR" sz="2200" dirty="0" err="1"/>
              <a:t>applied</a:t>
            </a:r>
            <a:r>
              <a:rPr lang="tr-TR" sz="2200" dirty="0"/>
              <a:t> </a:t>
            </a:r>
            <a:r>
              <a:rPr lang="tr-TR" sz="2200" dirty="0" err="1"/>
              <a:t>to</a:t>
            </a:r>
            <a:r>
              <a:rPr lang="tr-TR" sz="2200" dirty="0"/>
              <a:t> </a:t>
            </a:r>
            <a:r>
              <a:rPr lang="tr-TR" sz="2200" dirty="0" err="1"/>
              <a:t>extract</a:t>
            </a:r>
            <a:r>
              <a:rPr lang="tr-TR" sz="2200" dirty="0"/>
              <a:t> </a:t>
            </a:r>
            <a:r>
              <a:rPr lang="tr-TR" sz="2200" dirty="0" err="1"/>
              <a:t>the</a:t>
            </a:r>
            <a:r>
              <a:rPr lang="tr-TR" sz="2200" dirty="0"/>
              <a:t> </a:t>
            </a:r>
            <a:r>
              <a:rPr lang="tr-TR" sz="2200" dirty="0" err="1"/>
              <a:t>distinct</a:t>
            </a:r>
            <a:r>
              <a:rPr lang="tr-TR" sz="2200" dirty="0"/>
              <a:t> </a:t>
            </a:r>
            <a:r>
              <a:rPr lang="tr-TR" sz="2200" dirty="0" err="1"/>
              <a:t>features</a:t>
            </a:r>
            <a:r>
              <a:rPr lang="tr-TR" sz="2200" dirty="0"/>
              <a:t> of </a:t>
            </a:r>
            <a:r>
              <a:rPr lang="tr-TR" sz="2200" dirty="0" err="1"/>
              <a:t>the</a:t>
            </a:r>
            <a:r>
              <a:rPr lang="tr-TR" sz="2200" dirty="0"/>
              <a:t> </a:t>
            </a:r>
            <a:r>
              <a:rPr lang="tr-TR" sz="2200" dirty="0" err="1"/>
              <a:t>signal</a:t>
            </a:r>
            <a:r>
              <a:rPr lang="tr-TR" sz="2200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tr-TR" sz="2200" dirty="0" err="1"/>
              <a:t>Yule-Walker</a:t>
            </a:r>
            <a:r>
              <a:rPr lang="tr-TR" sz="2200" dirty="0"/>
              <a:t> AR </a:t>
            </a:r>
            <a:r>
              <a:rPr lang="tr-TR" sz="2200" dirty="0" err="1"/>
              <a:t>Method</a:t>
            </a:r>
            <a:endParaRPr lang="tr-TR" sz="22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tr-TR" sz="2200" dirty="0" err="1"/>
              <a:t>Provides</a:t>
            </a:r>
            <a:r>
              <a:rPr lang="tr-TR" sz="2200" dirty="0"/>
              <a:t> </a:t>
            </a:r>
            <a:r>
              <a:rPr lang="tr-TR" sz="2200" dirty="0" err="1"/>
              <a:t>information</a:t>
            </a:r>
            <a:r>
              <a:rPr lang="tr-TR" sz="2200" dirty="0"/>
              <a:t> </a:t>
            </a:r>
            <a:r>
              <a:rPr lang="tr-TR" sz="2200" dirty="0" err="1"/>
              <a:t>about</a:t>
            </a:r>
            <a:r>
              <a:rPr lang="tr-TR" sz="2200" dirty="0"/>
              <a:t> </a:t>
            </a:r>
            <a:r>
              <a:rPr lang="tr-TR" sz="2200" dirty="0" err="1"/>
              <a:t>higher</a:t>
            </a:r>
            <a:r>
              <a:rPr lang="tr-TR" sz="2200" dirty="0"/>
              <a:t> </a:t>
            </a:r>
            <a:r>
              <a:rPr lang="tr-TR" sz="2200" dirty="0" err="1"/>
              <a:t>frequency</a:t>
            </a:r>
            <a:r>
              <a:rPr lang="tr-TR" sz="2200" dirty="0"/>
              <a:t> </a:t>
            </a:r>
            <a:r>
              <a:rPr lang="tr-TR" sz="2200" dirty="0" err="1"/>
              <a:t>components</a:t>
            </a:r>
            <a:endParaRPr lang="tr-TR" sz="22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tr-TR" sz="2200" dirty="0" err="1"/>
              <a:t>Wavelets</a:t>
            </a:r>
            <a:endParaRPr lang="tr-TR" sz="22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tr-TR" sz="2200" dirty="0" err="1"/>
              <a:t>Gives</a:t>
            </a:r>
            <a:r>
              <a:rPr lang="tr-TR" sz="2200" dirty="0"/>
              <a:t> time </a:t>
            </a:r>
            <a:r>
              <a:rPr lang="tr-TR" sz="2200" dirty="0" err="1"/>
              <a:t>and</a:t>
            </a:r>
            <a:r>
              <a:rPr lang="tr-TR" sz="2200" dirty="0"/>
              <a:t> </a:t>
            </a:r>
            <a:r>
              <a:rPr lang="tr-TR" sz="2200" dirty="0" err="1"/>
              <a:t>frequency</a:t>
            </a:r>
            <a:r>
              <a:rPr lang="tr-TR" sz="2200" dirty="0"/>
              <a:t> </a:t>
            </a:r>
            <a:r>
              <a:rPr lang="tr-TR" sz="2200" dirty="0" err="1"/>
              <a:t>information</a:t>
            </a:r>
            <a:r>
              <a:rPr lang="tr-TR" sz="2200" dirty="0"/>
              <a:t> at a </a:t>
            </a:r>
            <a:r>
              <a:rPr lang="tr-TR" sz="2200" dirty="0" err="1"/>
              <a:t>given</a:t>
            </a:r>
            <a:r>
              <a:rPr lang="tr-TR" sz="2200" dirty="0"/>
              <a:t> </a:t>
            </a:r>
            <a:r>
              <a:rPr lang="tr-TR" sz="2200" dirty="0" err="1"/>
              <a:t>instance</a:t>
            </a:r>
            <a:r>
              <a:rPr lang="tr-TR" sz="2200" dirty="0"/>
              <a:t> </a:t>
            </a:r>
            <a:r>
              <a:rPr lang="tr-TR" sz="2200" dirty="0" err="1"/>
              <a:t>with</a:t>
            </a:r>
            <a:r>
              <a:rPr lang="tr-TR" sz="2200" dirty="0"/>
              <a:t> </a:t>
            </a:r>
            <a:r>
              <a:rPr lang="tr-TR" sz="2200" dirty="0" err="1"/>
              <a:t>lower</a:t>
            </a:r>
            <a:r>
              <a:rPr lang="tr-TR" sz="2200" dirty="0"/>
              <a:t> </a:t>
            </a:r>
            <a:r>
              <a:rPr lang="tr-TR" sz="2200" dirty="0" err="1"/>
              <a:t>resolution</a:t>
            </a:r>
            <a:r>
              <a:rPr lang="tr-TR" sz="2200" dirty="0"/>
              <a:t> in time </a:t>
            </a:r>
            <a:r>
              <a:rPr lang="tr-TR" sz="2200" dirty="0" err="1"/>
              <a:t>or</a:t>
            </a:r>
            <a:r>
              <a:rPr lang="tr-TR" sz="2200" dirty="0"/>
              <a:t> </a:t>
            </a:r>
            <a:r>
              <a:rPr lang="tr-TR" sz="2200" dirty="0" err="1"/>
              <a:t>frequency</a:t>
            </a:r>
            <a:r>
              <a:rPr lang="tr-TR" sz="2200" dirty="0"/>
              <a:t>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tr-TR" sz="2200" dirty="0" err="1"/>
              <a:t>Result</a:t>
            </a:r>
            <a:r>
              <a:rPr lang="tr-TR" sz="2200" dirty="0"/>
              <a:t> </a:t>
            </a:r>
            <a:r>
              <a:rPr lang="tr-TR" sz="2200" dirty="0" err="1"/>
              <a:t>gives</a:t>
            </a:r>
            <a:r>
              <a:rPr lang="tr-TR" sz="2200" dirty="0"/>
              <a:t> a 3D </a:t>
            </a:r>
            <a:r>
              <a:rPr lang="tr-TR" sz="2200" dirty="0" err="1"/>
              <a:t>surface</a:t>
            </a:r>
            <a:r>
              <a:rPr lang="tr-TR" sz="2200" dirty="0"/>
              <a:t> of Time-</a:t>
            </a:r>
            <a:r>
              <a:rPr lang="tr-TR" sz="2200" dirty="0" err="1"/>
              <a:t>Frequency</a:t>
            </a:r>
            <a:r>
              <a:rPr lang="tr-TR" sz="2200" dirty="0"/>
              <a:t>-</a:t>
            </a:r>
            <a:r>
              <a:rPr lang="tr-TR" sz="2200" dirty="0" err="1"/>
              <a:t>Amplitude</a:t>
            </a:r>
            <a:endParaRPr lang="tr-TR" sz="2200" dirty="0"/>
          </a:p>
        </p:txBody>
      </p:sp>
      <p:pic>
        <p:nvPicPr>
          <p:cNvPr id="6146" name="Picture 2" descr="Comparison of DWT and CWT A time-varying pulse signal of a sonar device...  | Download Scientific Diagram">
            <a:extLst>
              <a:ext uri="{FF2B5EF4-FFF2-40B4-BE49-F238E27FC236}">
                <a16:creationId xmlns:a16="http://schemas.microsoft.com/office/drawing/2014/main" id="{EADDF839-E909-9EAC-4C2B-033A68D79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201" y="3276600"/>
            <a:ext cx="4036612" cy="305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5663BFDE-78B7-92C2-BD7B-425CE53F8F3D}"/>
              </a:ext>
            </a:extLst>
          </p:cNvPr>
          <p:cNvSpPr txBox="1"/>
          <p:nvPr/>
        </p:nvSpPr>
        <p:spPr>
          <a:xfrm>
            <a:off x="7434099" y="6348764"/>
            <a:ext cx="462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i="1" dirty="0" err="1"/>
              <a:t>Discrite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Continuous</a:t>
            </a:r>
            <a:r>
              <a:rPr lang="tr-TR" i="1" dirty="0"/>
              <a:t> </a:t>
            </a:r>
            <a:r>
              <a:rPr lang="tr-TR" i="1" dirty="0" err="1"/>
              <a:t>Wavelets</a:t>
            </a:r>
            <a:r>
              <a:rPr lang="tr-TR" i="1" dirty="0"/>
              <a:t> </a:t>
            </a:r>
            <a:r>
              <a:rPr lang="tr-TR" i="1" dirty="0" err="1"/>
              <a:t>Transform</a:t>
            </a:r>
            <a:r>
              <a:rPr lang="tr-TR" i="1" dirty="0"/>
              <a:t> [2]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774239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 err="1"/>
              <a:t>Dataset</a:t>
            </a:r>
            <a:r>
              <a:rPr lang="tr-TR" sz="2800" dirty="0"/>
              <a:t> </a:t>
            </a:r>
            <a:r>
              <a:rPr lang="tr-TR" sz="2800" dirty="0" err="1"/>
              <a:t>Visualization</a:t>
            </a:r>
            <a:r>
              <a:rPr lang="tr-TR" sz="2800" dirty="0"/>
              <a:t> (1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DCCEAF-9BF7-A49C-D4A3-CCD1AF965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37CED89-6288-6813-05A4-BDB13D6E9C51}"/>
              </a:ext>
            </a:extLst>
          </p:cNvPr>
          <p:cNvSpPr txBox="1"/>
          <p:nvPr/>
        </p:nvSpPr>
        <p:spPr>
          <a:xfrm>
            <a:off x="1579123" y="1844575"/>
            <a:ext cx="733141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400" dirty="0" err="1"/>
              <a:t>Before</a:t>
            </a:r>
            <a:r>
              <a:rPr lang="tr-TR" sz="2400" dirty="0"/>
              <a:t> </a:t>
            </a:r>
            <a:r>
              <a:rPr lang="tr-TR" sz="2400" dirty="0" err="1"/>
              <a:t>classifying</a:t>
            </a:r>
            <a:r>
              <a:rPr lang="tr-TR" sz="2400" dirty="0"/>
              <a:t> </a:t>
            </a:r>
            <a:r>
              <a:rPr lang="tr-TR" sz="2400" dirty="0" err="1"/>
              <a:t>materials</a:t>
            </a:r>
            <a:r>
              <a:rPr lang="tr-TR" sz="2400" dirty="0"/>
              <a:t> </a:t>
            </a:r>
            <a:r>
              <a:rPr lang="tr-TR" sz="2400" dirty="0" err="1"/>
              <a:t>dataset</a:t>
            </a:r>
            <a:r>
              <a:rPr lang="tr-TR" sz="2400" dirty="0"/>
              <a:t> is </a:t>
            </a:r>
            <a:r>
              <a:rPr lang="tr-TR" sz="2400" dirty="0" err="1"/>
              <a:t>going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be </a:t>
            </a:r>
            <a:r>
              <a:rPr lang="tr-TR" sz="2400" dirty="0" err="1"/>
              <a:t>obtained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determine</a:t>
            </a:r>
            <a:r>
              <a:rPr lang="tr-TR" sz="2400" dirty="0"/>
              <a:t> </a:t>
            </a:r>
            <a:r>
              <a:rPr lang="tr-TR" sz="2400" dirty="0" err="1"/>
              <a:t>wheter</a:t>
            </a:r>
            <a:r>
              <a:rPr lang="tr-TR" sz="2400" dirty="0"/>
              <a:t> it is </a:t>
            </a:r>
            <a:r>
              <a:rPr lang="tr-TR" sz="2400" dirty="0" err="1"/>
              <a:t>convinient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classify</a:t>
            </a:r>
            <a:r>
              <a:rPr lang="tr-TR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400" dirty="0" err="1"/>
              <a:t>Dataset</a:t>
            </a:r>
            <a:r>
              <a:rPr lang="tr-TR" sz="2400" dirty="0"/>
              <a:t> </a:t>
            </a:r>
            <a:r>
              <a:rPr lang="tr-TR" sz="2400" dirty="0" err="1"/>
              <a:t>visualization</a:t>
            </a:r>
            <a:r>
              <a:rPr lang="tr-TR" sz="2400" dirty="0"/>
              <a:t> can be </a:t>
            </a:r>
            <a:r>
              <a:rPr lang="tr-TR" sz="2400" dirty="0" err="1"/>
              <a:t>achieved</a:t>
            </a:r>
            <a:r>
              <a:rPr lang="tr-TR" sz="2400" dirty="0"/>
              <a:t> </a:t>
            </a:r>
            <a:r>
              <a:rPr lang="tr-TR" sz="2400" dirty="0" err="1"/>
              <a:t>by</a:t>
            </a:r>
            <a:r>
              <a:rPr lang="tr-TR" sz="2400" dirty="0"/>
              <a:t> </a:t>
            </a:r>
            <a:r>
              <a:rPr lang="tr-TR" sz="2400" dirty="0" err="1"/>
              <a:t>reducing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dimention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dataset</a:t>
            </a:r>
            <a:r>
              <a:rPr lang="tr-TR" sz="2400" dirty="0"/>
              <a:t> </a:t>
            </a:r>
            <a:r>
              <a:rPr lang="tr-TR" sz="2400" dirty="0" err="1"/>
              <a:t>into</a:t>
            </a:r>
            <a:r>
              <a:rPr lang="tr-TR" sz="2400" dirty="0"/>
              <a:t> 1D, 2D </a:t>
            </a:r>
            <a:r>
              <a:rPr lang="tr-TR" sz="2400" dirty="0" err="1"/>
              <a:t>or</a:t>
            </a:r>
            <a:r>
              <a:rPr lang="tr-TR" sz="2400" dirty="0"/>
              <a:t> 3D.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Principal Component Analysis</a:t>
            </a:r>
            <a:r>
              <a:rPr lang="tr-TR" sz="2400" dirty="0"/>
              <a:t> (PCA)</a:t>
            </a:r>
            <a:r>
              <a:rPr lang="en-US" sz="2400" dirty="0"/>
              <a:t> can be used for a linearly correlated dataset.</a:t>
            </a:r>
            <a:endParaRPr lang="tr-T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400" dirty="0"/>
              <a:t>t-SNE (t-</a:t>
            </a:r>
            <a:r>
              <a:rPr lang="tr-TR" sz="2400" dirty="0" err="1"/>
              <a:t>distributed</a:t>
            </a:r>
            <a:r>
              <a:rPr lang="tr-TR" sz="2400" dirty="0"/>
              <a:t> </a:t>
            </a:r>
            <a:r>
              <a:rPr lang="tr-TR" sz="2400" dirty="0" err="1"/>
              <a:t>Stochastic</a:t>
            </a:r>
            <a:r>
              <a:rPr lang="tr-TR" sz="2400" dirty="0"/>
              <a:t> </a:t>
            </a:r>
            <a:r>
              <a:rPr lang="tr-TR" sz="2400" dirty="0" err="1"/>
              <a:t>Neighbor</a:t>
            </a:r>
            <a:r>
              <a:rPr lang="tr-TR" sz="2400" dirty="0"/>
              <a:t> </a:t>
            </a:r>
            <a:r>
              <a:rPr lang="tr-TR" sz="2400" dirty="0" err="1"/>
              <a:t>Embedding</a:t>
            </a:r>
            <a:r>
              <a:rPr lang="tr-TR" sz="2400" dirty="0"/>
              <a:t>), </a:t>
            </a:r>
            <a:r>
              <a:rPr lang="tr-TR" sz="2400" dirty="0" err="1"/>
              <a:t>Unifrom</a:t>
            </a:r>
            <a:r>
              <a:rPr lang="tr-TR" sz="2400" dirty="0"/>
              <a:t> </a:t>
            </a:r>
            <a:r>
              <a:rPr lang="tr-TR" sz="2400" dirty="0" err="1"/>
              <a:t>Manifold</a:t>
            </a:r>
            <a:r>
              <a:rPr lang="tr-TR" sz="2400" dirty="0"/>
              <a:t> </a:t>
            </a:r>
            <a:r>
              <a:rPr lang="tr-TR" sz="2400" dirty="0" err="1"/>
              <a:t>Approximation</a:t>
            </a:r>
            <a:r>
              <a:rPr lang="tr-TR" sz="2400" dirty="0"/>
              <a:t> </a:t>
            </a:r>
            <a:r>
              <a:rPr lang="tr-TR" sz="2400" dirty="0" err="1"/>
              <a:t>and</a:t>
            </a:r>
            <a:r>
              <a:rPr lang="tr-TR" sz="2400" dirty="0"/>
              <a:t> </a:t>
            </a:r>
            <a:r>
              <a:rPr lang="tr-TR" sz="2400" dirty="0" err="1"/>
              <a:t>Projection</a:t>
            </a:r>
            <a:r>
              <a:rPr lang="tr-TR" sz="2400" dirty="0"/>
              <a:t> (UMAP)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non-linear</a:t>
            </a:r>
            <a:r>
              <a:rPr lang="tr-TR" sz="2400" dirty="0"/>
              <a:t> </a:t>
            </a:r>
            <a:r>
              <a:rPr lang="tr-TR" sz="2400" dirty="0" err="1"/>
              <a:t>correlated</a:t>
            </a:r>
            <a:r>
              <a:rPr lang="tr-TR" sz="2400" dirty="0"/>
              <a:t> </a:t>
            </a:r>
            <a:r>
              <a:rPr lang="tr-TR" sz="2400" dirty="0" err="1"/>
              <a:t>dataset</a:t>
            </a:r>
            <a:r>
              <a:rPr lang="tr-TR" sz="2400" dirty="0"/>
              <a:t>.  </a:t>
            </a:r>
          </a:p>
          <a:p>
            <a:pPr lvl="1"/>
            <a:endParaRPr lang="tr-TR" sz="2400" dirty="0"/>
          </a:p>
          <a:p>
            <a:pPr lvl="1"/>
            <a:endParaRPr lang="tr-TR" sz="2400" dirty="0"/>
          </a:p>
        </p:txBody>
      </p:sp>
      <p:pic>
        <p:nvPicPr>
          <p:cNvPr id="5122" name="Picture 2" descr="An illustrated introduction to the t-SNE algorithm – O'Reilly">
            <a:extLst>
              <a:ext uri="{FF2B5EF4-FFF2-40B4-BE49-F238E27FC236}">
                <a16:creationId xmlns:a16="http://schemas.microsoft.com/office/drawing/2014/main" id="{4CEFB180-96CC-DA66-846C-235C59E08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065" y="2629982"/>
            <a:ext cx="2854255" cy="190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UMAP: An alternative dimensionality reduction technique | by Fernando Luna  | MCD-UNISON | Medium">
            <a:extLst>
              <a:ext uri="{FF2B5EF4-FFF2-40B4-BE49-F238E27FC236}">
                <a16:creationId xmlns:a16="http://schemas.microsoft.com/office/drawing/2014/main" id="{CCC612C2-1E2A-EA20-1468-B575C4020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447" y="4710637"/>
            <a:ext cx="2893166" cy="112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ython - PCA projection centroids and ellipsis - Stack Overflow">
            <a:extLst>
              <a:ext uri="{FF2B5EF4-FFF2-40B4-BE49-F238E27FC236}">
                <a16:creationId xmlns:a16="http://schemas.microsoft.com/office/drawing/2014/main" id="{2ED2A34F-2A28-D35C-A878-D640861C0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193" y="759839"/>
            <a:ext cx="2177064" cy="178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D3CD7477-2E54-40BD-AD9F-9FA542F9B6BB}"/>
              </a:ext>
            </a:extLst>
          </p:cNvPr>
          <p:cNvSpPr txBox="1"/>
          <p:nvPr/>
        </p:nvSpPr>
        <p:spPr>
          <a:xfrm>
            <a:off x="7929362" y="5988640"/>
            <a:ext cx="3913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i="1" dirty="0"/>
              <a:t>PCA, t-SEN, UMAP </a:t>
            </a:r>
            <a:r>
              <a:rPr lang="tr-TR" i="1" dirty="0" err="1"/>
              <a:t>example</a:t>
            </a:r>
            <a:r>
              <a:rPr lang="tr-TR" i="1" dirty="0"/>
              <a:t> </a:t>
            </a:r>
            <a:r>
              <a:rPr lang="tr-TR" i="1" dirty="0" err="1"/>
              <a:t>respectively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436214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6E925-8F0A-E452-3E35-40427C80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milestones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&amp; </a:t>
            </a:r>
            <a:r>
              <a:rPr lang="tr-TR" dirty="0" err="1"/>
              <a:t>Why</a:t>
            </a:r>
            <a:r>
              <a:rPr lang="tr-TR" dirty="0"/>
              <a:t>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important</a:t>
            </a:r>
            <a:br>
              <a:rPr lang="tr-TR" dirty="0"/>
            </a:br>
            <a:endParaRPr lang="en-GB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73AF96-3C98-690B-E7C5-7EEF236317AB}"/>
              </a:ext>
            </a:extLst>
          </p:cNvPr>
          <p:cNvSpPr txBox="1"/>
          <p:nvPr/>
        </p:nvSpPr>
        <p:spPr>
          <a:xfrm>
            <a:off x="1101657" y="1321355"/>
            <a:ext cx="9511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 err="1"/>
              <a:t>Classification</a:t>
            </a:r>
            <a:r>
              <a:rPr lang="tr-TR" sz="2800" dirty="0"/>
              <a:t> (3 </a:t>
            </a:r>
            <a:r>
              <a:rPr lang="tr-TR" sz="2800" dirty="0" err="1"/>
              <a:t>Weeks</a:t>
            </a:r>
            <a:r>
              <a:rPr lang="tr-TR" sz="2800" dirty="0"/>
              <a:t>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DCCEAF-9BF7-A49C-D4A3-CCD1AF965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37CED89-6288-6813-05A4-BDB13D6E9C51}"/>
              </a:ext>
            </a:extLst>
          </p:cNvPr>
          <p:cNvSpPr txBox="1"/>
          <p:nvPr/>
        </p:nvSpPr>
        <p:spPr>
          <a:xfrm>
            <a:off x="1680160" y="2221289"/>
            <a:ext cx="93315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tr-TR" sz="2400" dirty="0"/>
              <a:t>Final </a:t>
            </a:r>
            <a:r>
              <a:rPr lang="tr-TR" sz="2400" dirty="0" err="1"/>
              <a:t>study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project</a:t>
            </a:r>
            <a:endParaRPr lang="tr-TR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tr-TR" sz="2400" dirty="0" err="1"/>
              <a:t>The</a:t>
            </a:r>
            <a:r>
              <a:rPr lang="tr-TR" sz="2400" dirty="0"/>
              <a:t> final </a:t>
            </a:r>
            <a:r>
              <a:rPr lang="tr-TR" sz="2400" dirty="0" err="1"/>
              <a:t>classifier</a:t>
            </a:r>
            <a:r>
              <a:rPr lang="tr-TR" sz="2400" dirty="0"/>
              <a:t> model </a:t>
            </a:r>
            <a:r>
              <a:rPr lang="tr-TR" sz="2400" dirty="0" err="1"/>
              <a:t>depends</a:t>
            </a:r>
            <a:r>
              <a:rPr lang="tr-TR" sz="2400" dirty="0"/>
              <a:t> on ‘’</a:t>
            </a:r>
            <a:r>
              <a:rPr lang="tr-TR" sz="2400" dirty="0" err="1"/>
              <a:t>literature</a:t>
            </a:r>
            <a:r>
              <a:rPr lang="tr-TR" sz="2400" dirty="0"/>
              <a:t> </a:t>
            </a:r>
            <a:r>
              <a:rPr lang="tr-TR" sz="2400" dirty="0" err="1"/>
              <a:t>review</a:t>
            </a:r>
            <a:r>
              <a:rPr lang="tr-TR" sz="2400" dirty="0"/>
              <a:t>’’ </a:t>
            </a:r>
            <a:r>
              <a:rPr lang="tr-TR" sz="2400" dirty="0" err="1"/>
              <a:t>milestone</a:t>
            </a:r>
            <a:endParaRPr lang="tr-TR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result</a:t>
            </a:r>
            <a:r>
              <a:rPr lang="tr-TR" sz="2400" dirty="0"/>
              <a:t> </a:t>
            </a:r>
            <a:r>
              <a:rPr lang="tr-TR" sz="2400" dirty="0" err="1"/>
              <a:t>will</a:t>
            </a:r>
            <a:r>
              <a:rPr lang="tr-TR" sz="2400" dirty="0"/>
              <a:t> </a:t>
            </a:r>
            <a:r>
              <a:rPr lang="tr-TR" sz="2400" dirty="0" err="1"/>
              <a:t>show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accuracy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 model on a </a:t>
            </a:r>
            <a:r>
              <a:rPr lang="tr-TR" sz="2400" dirty="0" err="1"/>
              <a:t>confusion</a:t>
            </a:r>
            <a:r>
              <a:rPr lang="tr-TR" sz="2400" dirty="0"/>
              <a:t> </a:t>
            </a:r>
            <a:r>
              <a:rPr lang="tr-TR" sz="2400" dirty="0" err="1"/>
              <a:t>matrix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94872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F6FB36-C234-00F7-3BE9-9ED1C639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Referances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presentation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7FB0BC-818D-7809-5B4B-F778A0E96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218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[1] </a:t>
            </a:r>
            <a:r>
              <a:rPr lang="en-US" sz="2000" dirty="0" err="1"/>
              <a:t>christianlillelund</a:t>
            </a:r>
            <a:r>
              <a:rPr lang="en-US" sz="2000" dirty="0"/>
              <a:t>. “Classify MNIST Audio Using Spectrograms/</a:t>
            </a:r>
            <a:r>
              <a:rPr lang="en-US" sz="2000" dirty="0" err="1"/>
              <a:t>Keras</a:t>
            </a:r>
            <a:r>
              <a:rPr lang="en-US" sz="2000" dirty="0"/>
              <a:t> CNN.” Kaggle.com, Kaggle, 12 Dec. 2020, </a:t>
            </a:r>
            <a:r>
              <a:rPr lang="en-US" sz="2000" dirty="0">
                <a:hlinkClick r:id="rId2"/>
              </a:rPr>
              <a:t>www.kaggle.com/code/christianlillelund/classify-mnist-audio-using-spectrograms-keras-cnn/notebook. Accessed 19 Feb. 2025</a:t>
            </a:r>
            <a:r>
              <a:rPr lang="en-US" sz="2000" dirty="0"/>
              <a:t>.</a:t>
            </a:r>
            <a:r>
              <a:rPr lang="tr-TR" sz="2000" dirty="0"/>
              <a:t> </a:t>
            </a:r>
          </a:p>
          <a:p>
            <a:pPr marL="0" indent="0" algn="just">
              <a:buNone/>
            </a:pPr>
            <a:r>
              <a:rPr lang="tr-TR" sz="2000" dirty="0"/>
              <a:t>[2] </a:t>
            </a:r>
            <a:r>
              <a:rPr lang="tr-TR" sz="2000" dirty="0" err="1"/>
              <a:t>Arts</a:t>
            </a:r>
            <a:r>
              <a:rPr lang="tr-TR" sz="2000" dirty="0"/>
              <a:t>, Lukas P. A., </a:t>
            </a:r>
            <a:r>
              <a:rPr lang="tr-TR" sz="2000" dirty="0" err="1"/>
              <a:t>and</a:t>
            </a:r>
            <a:r>
              <a:rPr lang="tr-TR" sz="2000" dirty="0"/>
              <a:t> Egon L. </a:t>
            </a:r>
            <a:r>
              <a:rPr lang="tr-TR" sz="2000" dirty="0" err="1"/>
              <a:t>van</a:t>
            </a:r>
            <a:r>
              <a:rPr lang="tr-TR" sz="2000" dirty="0"/>
              <a:t> den </a:t>
            </a:r>
            <a:r>
              <a:rPr lang="tr-TR" sz="2000" dirty="0" err="1"/>
              <a:t>Broek</a:t>
            </a:r>
            <a:r>
              <a:rPr lang="tr-TR" sz="2000" dirty="0"/>
              <a:t>. “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Fast</a:t>
            </a:r>
            <a:r>
              <a:rPr lang="tr-TR" sz="2000" dirty="0"/>
              <a:t> </a:t>
            </a:r>
            <a:r>
              <a:rPr lang="tr-TR" sz="2000" dirty="0" err="1"/>
              <a:t>Continuous</a:t>
            </a:r>
            <a:r>
              <a:rPr lang="tr-TR" sz="2000" dirty="0"/>
              <a:t> </a:t>
            </a:r>
            <a:r>
              <a:rPr lang="tr-TR" sz="2000" dirty="0" err="1"/>
              <a:t>Wavelet</a:t>
            </a:r>
            <a:r>
              <a:rPr lang="tr-TR" sz="2000" dirty="0"/>
              <a:t> </a:t>
            </a:r>
            <a:r>
              <a:rPr lang="tr-TR" sz="2000" dirty="0" err="1"/>
              <a:t>Transformation</a:t>
            </a:r>
            <a:r>
              <a:rPr lang="tr-TR" sz="2000" dirty="0"/>
              <a:t> (FCWT) </a:t>
            </a:r>
            <a:r>
              <a:rPr lang="tr-TR" sz="2000" dirty="0" err="1"/>
              <a:t>for</a:t>
            </a:r>
            <a:r>
              <a:rPr lang="tr-TR" sz="2000" dirty="0"/>
              <a:t> Real-Time, High-</a:t>
            </a:r>
            <a:r>
              <a:rPr lang="tr-TR" sz="2000" dirty="0" err="1"/>
              <a:t>Quality</a:t>
            </a:r>
            <a:r>
              <a:rPr lang="tr-TR" sz="2000" dirty="0"/>
              <a:t>, </a:t>
            </a:r>
            <a:r>
              <a:rPr lang="tr-TR" sz="2000" dirty="0" err="1"/>
              <a:t>Noise-Resistant</a:t>
            </a:r>
            <a:r>
              <a:rPr lang="tr-TR" sz="2000" dirty="0"/>
              <a:t> Time–</a:t>
            </a:r>
            <a:r>
              <a:rPr lang="tr-TR" sz="2000" dirty="0" err="1"/>
              <a:t>Frequency</a:t>
            </a:r>
            <a:r>
              <a:rPr lang="tr-TR" sz="2000" dirty="0"/>
              <a:t> Analysis.” Nature </a:t>
            </a:r>
            <a:r>
              <a:rPr lang="tr-TR" sz="2000" dirty="0" err="1"/>
              <a:t>Computational</a:t>
            </a:r>
            <a:r>
              <a:rPr lang="tr-TR" sz="2000" dirty="0"/>
              <a:t> </a:t>
            </a:r>
            <a:r>
              <a:rPr lang="tr-TR" sz="2000" dirty="0" err="1"/>
              <a:t>Science</a:t>
            </a:r>
            <a:r>
              <a:rPr lang="tr-TR" sz="2000" dirty="0"/>
              <a:t>, </a:t>
            </a:r>
            <a:r>
              <a:rPr lang="tr-TR" sz="2000" dirty="0" err="1"/>
              <a:t>vol</a:t>
            </a:r>
            <a:r>
              <a:rPr lang="tr-TR" sz="2000" dirty="0"/>
              <a:t>. 2, </a:t>
            </a:r>
            <a:r>
              <a:rPr lang="tr-TR" sz="2000" dirty="0" err="1"/>
              <a:t>no</a:t>
            </a:r>
            <a:r>
              <a:rPr lang="tr-TR" sz="2000" dirty="0"/>
              <a:t>. 1, 1 Jan. 2022, </a:t>
            </a:r>
            <a:r>
              <a:rPr lang="tr-TR" sz="2000" dirty="0" err="1"/>
              <a:t>pp</a:t>
            </a:r>
            <a:r>
              <a:rPr lang="tr-TR" sz="2000" dirty="0"/>
              <a:t>. 47–58, www.nature.com/</a:t>
            </a:r>
            <a:r>
              <a:rPr lang="tr-TR" sz="2000" dirty="0" err="1"/>
              <a:t>articles</a:t>
            </a:r>
            <a:r>
              <a:rPr lang="tr-TR" sz="2000" dirty="0"/>
              <a:t>/s43588-021-00183-z, https://doi.org/10.1038/s43588-021-00183-z. </a:t>
            </a:r>
            <a:r>
              <a:rPr lang="tr-TR" sz="2000" dirty="0" err="1"/>
              <a:t>Accessed</a:t>
            </a:r>
            <a:r>
              <a:rPr lang="tr-TR" sz="2000" dirty="0"/>
              <a:t> 20 </a:t>
            </a:r>
            <a:r>
              <a:rPr lang="tr-TR" sz="2000" dirty="0" err="1"/>
              <a:t>Dec</a:t>
            </a:r>
            <a:r>
              <a:rPr lang="tr-TR" sz="2000" dirty="0"/>
              <a:t>. 2022. </a:t>
            </a:r>
          </a:p>
        </p:txBody>
      </p:sp>
    </p:spTree>
    <p:extLst>
      <p:ext uri="{BB962C8B-B14F-4D97-AF65-F5344CB8AC3E}">
        <p14:creationId xmlns:p14="http://schemas.microsoft.com/office/powerpoint/2010/main" val="188879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1124</Words>
  <Application>Microsoft Office PowerPoint</Application>
  <PresentationFormat>Geniş ekran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Teması</vt:lpstr>
      <vt:lpstr>Remote Material Classification Using a Laser Module and LSTM Deep Learning Algorithms</vt:lpstr>
      <vt:lpstr>Table of Contents</vt:lpstr>
      <vt:lpstr>Review of the Project</vt:lpstr>
      <vt:lpstr>Review of the Project</vt:lpstr>
      <vt:lpstr>The milestones of the Project &amp; Why they are important  i.Schedule </vt:lpstr>
      <vt:lpstr>The milestones of the Project &amp; Why they are important </vt:lpstr>
      <vt:lpstr>The milestones of the Project &amp; Why they are important </vt:lpstr>
      <vt:lpstr>The milestones of the Project &amp; Why they are important </vt:lpstr>
      <vt:lpstr>The milestones of the Project &amp; Why they are important </vt:lpstr>
      <vt:lpstr>The milestones of the Project &amp; Why they are important </vt:lpstr>
      <vt:lpstr>The milestones of the Project &amp; Why they are important </vt:lpstr>
      <vt:lpstr>The milestones of the Project &amp; Why they are important </vt:lpstr>
      <vt:lpstr>The milestones of the Project &amp; Why they are important </vt:lpstr>
      <vt:lpstr>Referances for this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Material Classification Using a Laser Module and LSTM Deep Learning Algorithms</dc:title>
  <dc:creator>Yusuf Soyçeken</dc:creator>
  <cp:lastModifiedBy>Yusuf Soyçeken</cp:lastModifiedBy>
  <cp:revision>60</cp:revision>
  <dcterms:created xsi:type="dcterms:W3CDTF">2024-12-25T11:31:40Z</dcterms:created>
  <dcterms:modified xsi:type="dcterms:W3CDTF">2025-02-20T01:51:36Z</dcterms:modified>
</cp:coreProperties>
</file>